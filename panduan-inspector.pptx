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63800eb1594447" /><Relationship Type="http://schemas.openxmlformats.org/officeDocument/2006/relationships/extended-properties" Target="/docProps/app.xml" Id="R5f3a4f42adcd4808" /><Relationship Type="http://schemas.openxmlformats.org/officeDocument/2006/relationships/officeDocument" Target="/ppt/presentation.xml" Id="R867f9c32c78843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f6026e49b547f8"/>
  </p:sldMasterIdLst>
  <p:notesMasterIdLst>
    <p:notesMasterId xmlns:r="http://schemas.openxmlformats.org/officeDocument/2006/relationships" r:id="R80690deeb02541c6"/>
  </p:notesMasterIdLst>
  <p:sldIdLst>
    <p:sldId xmlns:r="http://schemas.openxmlformats.org/officeDocument/2006/relationships" id="256" r:id="Rc70d9086f77f46b7"/>
    <p:sldId xmlns:r="http://schemas.openxmlformats.org/officeDocument/2006/relationships" id="257" r:id="Rd9514457df1d4dc4"/>
    <p:sldId xmlns:r="http://schemas.openxmlformats.org/officeDocument/2006/relationships" id="258" r:id="R6cf618a7721c4b0b"/>
    <p:sldId xmlns:r="http://schemas.openxmlformats.org/officeDocument/2006/relationships" id="259" r:id="Rc5497b6c1a364af6"/>
    <p:sldId xmlns:r="http://schemas.openxmlformats.org/officeDocument/2006/relationships" id="260" r:id="R0b089db9721d450b"/>
    <p:sldId xmlns:r="http://schemas.openxmlformats.org/officeDocument/2006/relationships" id="261" r:id="R3482936ab8f74bf1"/>
    <p:sldId xmlns:r="http://schemas.openxmlformats.org/officeDocument/2006/relationships" id="262" r:id="R3868ee8fbe2b44de"/>
    <p:sldId xmlns:r="http://schemas.openxmlformats.org/officeDocument/2006/relationships" id="263" r:id="R3c92ed9aa8074864"/>
    <p:sldId xmlns:r="http://schemas.openxmlformats.org/officeDocument/2006/relationships" id="264" r:id="Rcae7fa7e87724032"/>
    <p:sldId xmlns:r="http://schemas.openxmlformats.org/officeDocument/2006/relationships" id="265" r:id="Rc6baf85efca94cb9"/>
    <p:sldId xmlns:r="http://schemas.openxmlformats.org/officeDocument/2006/relationships" id="266" r:id="R888fd4eb39e145cc"/>
    <p:sldId xmlns:r="http://schemas.openxmlformats.org/officeDocument/2006/relationships" id="267" r:id="R23642e77ae444bd1"/>
    <p:sldId xmlns:r="http://schemas.openxmlformats.org/officeDocument/2006/relationships" id="268" r:id="R119284a4177346a0"/>
    <p:sldId xmlns:r="http://schemas.openxmlformats.org/officeDocument/2006/relationships" id="269" r:id="Rf694d96b82be4ce2"/>
    <p:sldId xmlns:r="http://schemas.openxmlformats.org/officeDocument/2006/relationships" id="270" r:id="R924e39b87b66422f"/>
    <p:sldId xmlns:r="http://schemas.openxmlformats.org/officeDocument/2006/relationships" id="271" r:id="Rbded564f532d4db5"/>
    <p:sldId xmlns:r="http://schemas.openxmlformats.org/officeDocument/2006/relationships" id="272" r:id="R851c3337845346aa"/>
    <p:sldId xmlns:r="http://schemas.openxmlformats.org/officeDocument/2006/relationships" id="273" r:id="R1cb1f5014dca4145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b6dcb606a846b7" /><Relationship Type="http://schemas.openxmlformats.org/officeDocument/2006/relationships/slideMaster" Target="/ppt/slideMasters/slideMaster1.xml" Id="Rdbf6026e49b547f8" /><Relationship Type="http://schemas.openxmlformats.org/officeDocument/2006/relationships/notesMaster" Target="/ppt/notesMasters/notesMaster1.xml" Id="R80690deeb02541c6" /><Relationship Type="http://schemas.openxmlformats.org/officeDocument/2006/relationships/presProps" Target="/ppt/presProps.xml" Id="R5bf88cf21ac54647" /><Relationship Type="http://schemas.openxmlformats.org/officeDocument/2006/relationships/viewProps" Target="/ppt/viewProps.xml" Id="R36f8854bc0da437b" /><Relationship Type="http://schemas.openxmlformats.org/officeDocument/2006/relationships/tableStyles" Target="/ppt/tableStyles.xml" Id="R5d61dc820b5542b8" /><Relationship Type="http://schemas.openxmlformats.org/officeDocument/2006/relationships/slide" Target="/ppt/slides/slide1.xml" Id="Rc70d9086f77f46b7" /><Relationship Type="http://schemas.openxmlformats.org/officeDocument/2006/relationships/slide" Target="/ppt/slides/slide2.xml" Id="Rd9514457df1d4dc4" /><Relationship Type="http://schemas.openxmlformats.org/officeDocument/2006/relationships/slide" Target="/ppt/slides/slide3.xml" Id="R6cf618a7721c4b0b" /><Relationship Type="http://schemas.openxmlformats.org/officeDocument/2006/relationships/slide" Target="/ppt/slides/slide4.xml" Id="Rc5497b6c1a364af6" /><Relationship Type="http://schemas.openxmlformats.org/officeDocument/2006/relationships/slide" Target="/ppt/slides/slide5.xml" Id="R0b089db9721d450b" /><Relationship Type="http://schemas.openxmlformats.org/officeDocument/2006/relationships/slide" Target="/ppt/slides/slide6.xml" Id="R3482936ab8f74bf1" /><Relationship Type="http://schemas.openxmlformats.org/officeDocument/2006/relationships/slide" Target="/ppt/slides/slide7.xml" Id="R3868ee8fbe2b44de" /><Relationship Type="http://schemas.openxmlformats.org/officeDocument/2006/relationships/slide" Target="/ppt/slides/slide8.xml" Id="R3c92ed9aa8074864" /><Relationship Type="http://schemas.openxmlformats.org/officeDocument/2006/relationships/slide" Target="/ppt/slides/slide9.xml" Id="Rcae7fa7e87724032" /><Relationship Type="http://schemas.openxmlformats.org/officeDocument/2006/relationships/slide" Target="/ppt/slides/slide10.xml" Id="Rc6baf85efca94cb9" /><Relationship Type="http://schemas.openxmlformats.org/officeDocument/2006/relationships/slide" Target="/ppt/slides/slide11.xml" Id="R888fd4eb39e145cc" /><Relationship Type="http://schemas.openxmlformats.org/officeDocument/2006/relationships/slide" Target="/ppt/slides/slide12.xml" Id="R23642e77ae444bd1" /><Relationship Type="http://schemas.openxmlformats.org/officeDocument/2006/relationships/slide" Target="/ppt/slides/slide13.xml" Id="R119284a4177346a0" /><Relationship Type="http://schemas.openxmlformats.org/officeDocument/2006/relationships/slide" Target="/ppt/slides/slide14.xml" Id="Rf694d96b82be4ce2" /><Relationship Type="http://schemas.openxmlformats.org/officeDocument/2006/relationships/slide" Target="/ppt/slides/slide15.xml" Id="R924e39b87b66422f" /><Relationship Type="http://schemas.openxmlformats.org/officeDocument/2006/relationships/slide" Target="/ppt/slides/slide16.xml" Id="Rbded564f532d4db5" /><Relationship Type="http://schemas.openxmlformats.org/officeDocument/2006/relationships/slide" Target="/ppt/slides/slide17.xml" Id="R851c3337845346aa" /><Relationship Type="http://schemas.openxmlformats.org/officeDocument/2006/relationships/slide" Target="/ppt/slides/slide18.xml" Id="R1cb1f5014dca41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8e18ec637449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JFI Safety">
  <a:themeElements>
    <a:clrScheme name="TJFI Safety">
      <a:dk1>
        <a:srgbClr val="1F2937"/>
      </a:dk1>
      <a:lt1>
        <a:srgbClr val="FFFFFF"/>
      </a:lt1>
      <a:dk2>
        <a:srgbClr val="0B2545"/>
      </a:dk2>
      <a:lt2>
        <a:srgbClr val="F1F5FA"/>
      </a:lt2>
      <a:accent1>
        <a:srgbClr val="F57C00"/>
      </a:accent1>
      <a:accent2>
        <a:srgbClr val="1688F8"/>
      </a:accent2>
      <a:accent3>
        <a:srgbClr val="16A34A"/>
      </a:accent3>
      <a:accent4>
        <a:srgbClr val="DC2626"/>
      </a:accent4>
      <a:accent5>
        <a:srgbClr val="B45309"/>
      </a:accent5>
      <a:accent6>
        <a:srgbClr val="5B6573"/>
      </a:accent6>
      <a:hlink>
        <a:srgbClr val="1688F8"/>
      </a:hlink>
      <a:folHlink>
        <a:srgbClr val="5B6573"/>
      </a:folHlink>
    </a:clrScheme>
    <a:fontScheme name="TJFI Safet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JFI Safet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88e34b0055444c" /><Relationship Type="http://schemas.openxmlformats.org/officeDocument/2006/relationships/notesMaster" Target="/ppt/notesMasters/notesMaster1.xml" Id="Radcceda774df49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0b3e55029b4fdc" /><Relationship Type="http://schemas.openxmlformats.org/officeDocument/2006/relationships/notesMaster" Target="/ppt/notesMasters/notesMaster1.xml" Id="Rcac9b1c1add647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de1d0c7e0b4b06" /><Relationship Type="http://schemas.openxmlformats.org/officeDocument/2006/relationships/notesMaster" Target="/ppt/notesMasters/notesMaster1.xml" Id="Rac2498b9a46c4c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4f7c9dc1cd4188" /><Relationship Type="http://schemas.openxmlformats.org/officeDocument/2006/relationships/notesMaster" Target="/ppt/notesMasters/notesMaster1.xml" Id="R7df03dd860da47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745c99dea245c3" /><Relationship Type="http://schemas.openxmlformats.org/officeDocument/2006/relationships/notesMaster" Target="/ppt/notesMasters/notesMaster1.xml" Id="R84d122efa27845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e88793ec3545c3" /><Relationship Type="http://schemas.openxmlformats.org/officeDocument/2006/relationships/notesMaster" Target="/ppt/notesMasters/notesMaster1.xml" Id="Rda473b5230e747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ce0e42196e44c8" /><Relationship Type="http://schemas.openxmlformats.org/officeDocument/2006/relationships/notesMaster" Target="/ppt/notesMasters/notesMaster1.xml" Id="R79e052481b3b4a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32b11787044e02" /><Relationship Type="http://schemas.openxmlformats.org/officeDocument/2006/relationships/notesMaster" Target="/ppt/notesMasters/notesMaster1.xml" Id="Raee1daf616f24b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ed02c79840492b" /><Relationship Type="http://schemas.openxmlformats.org/officeDocument/2006/relationships/notesMaster" Target="/ppt/notesMasters/notesMaster1.xml" Id="R1fd8bc22f0cd45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4b8cecdeb0420e" /><Relationship Type="http://schemas.openxmlformats.org/officeDocument/2006/relationships/notesMaster" Target="/ppt/notesMasters/notesMaster1.xml" Id="R9f25fd375871434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9b139141a449d5" /><Relationship Type="http://schemas.openxmlformats.org/officeDocument/2006/relationships/notesMaster" Target="/ppt/notesMasters/notesMaster1.xml" Id="R291b2b08063b4b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3f879838914305" /><Relationship Type="http://schemas.openxmlformats.org/officeDocument/2006/relationships/notesMaster" Target="/ppt/notesMasters/notesMaster1.xml" Id="Ra5cbfb12c09f431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cf944eaa98b4c1a" /><Relationship Type="http://schemas.openxmlformats.org/officeDocument/2006/relationships/notesMaster" Target="/ppt/notesMasters/notesMaster1.xml" Id="Rb639a481ebd04e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c39af9f3814c00" /><Relationship Type="http://schemas.openxmlformats.org/officeDocument/2006/relationships/notesMaster" Target="/ppt/notesMasters/notesMaster1.xml" Id="R264d514e3d4b41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d039279c9154edd" /><Relationship Type="http://schemas.openxmlformats.org/officeDocument/2006/relationships/notesMaster" Target="/ppt/notesMasters/notesMaster1.xml" Id="Rc1a95c0b4e2a4a9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607239a07a4c10" /><Relationship Type="http://schemas.openxmlformats.org/officeDocument/2006/relationships/notesMaster" Target="/ppt/notesMasters/notesMaster1.xml" Id="R41b36d3b41f64c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898813f1e247e5" /><Relationship Type="http://schemas.openxmlformats.org/officeDocument/2006/relationships/notesMaster" Target="/ppt/notesMasters/notesMaster1.xml" Id="R2035f00a596b41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3ad0fed219c407d" /><Relationship Type="http://schemas.openxmlformats.org/officeDocument/2006/relationships/notesMaster" Target="/ppt/notesMasters/notesMaster1.xml" Id="R3cdf80391da640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38b1d38e5d424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7627b044cf4a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93544f1b7a49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22bc2d0bae444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067C57B-889A-482C-AF4F-65C09BB4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TJFI Safety Control System  •  Panduan Inspector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1C9BCA2-B0A6-419D-9A69-83F4B30ED66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15568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DARK">
    <p:bg>
      <p:bgPr>
        <a:solidFill xmlns:a="http://schemas.openxmlformats.org/drawingml/2006/main">
          <a:schemeClr val="tx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preserve="1">
  <p:cSld name="CONTENT_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F7F13F2-5632-4189-9317-F12DC6B1BE92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3400" b="1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3400"/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4AD0FD3-A373-48B5-90E1-8689FE44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TJFI Safety Control System  •  Panduan Inspector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D77C161-7B09-4E08-9B6F-ED18199B756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d6ab15ed8b4eee" /><Relationship Type="http://schemas.openxmlformats.org/officeDocument/2006/relationships/slideLayout" Target="/ppt/slideLayouts/slideLayout1.xml" Id="R09b706ff874a48f2" /><Relationship Type="http://schemas.openxmlformats.org/officeDocument/2006/relationships/slideLayout" Target="/ppt/slideLayouts/slideLayout2.xml" Id="Rf2711cc7b5f744f9" /><Relationship Type="http://schemas.openxmlformats.org/officeDocument/2006/relationships/slideLayout" Target="/ppt/slideLayouts/slideLayout3.xml" Id="R55297631f7f2429a" /><Relationship Type="http://schemas.openxmlformats.org/officeDocument/2006/relationships/slideLayout" Target="/ppt/slideLayouts/slideLayout4.xml" Id="R2e0980fc5125454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5112AC9-4382-4173-9663-52C96352C11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15568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b706ff874a48f2"/>
    <p:sldLayoutId xmlns:r="http://schemas.openxmlformats.org/officeDocument/2006/relationships" id="2147483650" r:id="Rf2711cc7b5f744f9"/>
    <p:sldLayoutId xmlns:r="http://schemas.openxmlformats.org/officeDocument/2006/relationships" id="2147483651" r:id="R55297631f7f2429a"/>
    <p:sldLayoutId xmlns:r="http://schemas.openxmlformats.org/officeDocument/2006/relationships" id="2147483652" r:id="R2e0980fc512545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JFI Safety">
  <a:themeElements>
    <a:clrScheme name="TJFI Safety">
      <a:dk1>
        <a:srgbClr val="1F2937"/>
      </a:dk1>
      <a:lt1>
        <a:srgbClr val="FFFFFF"/>
      </a:lt1>
      <a:dk2>
        <a:srgbClr val="0B2545"/>
      </a:dk2>
      <a:lt2>
        <a:srgbClr val="F1F5FA"/>
      </a:lt2>
      <a:accent1>
        <a:srgbClr val="F57C00"/>
      </a:accent1>
      <a:accent2>
        <a:srgbClr val="1688F8"/>
      </a:accent2>
      <a:accent3>
        <a:srgbClr val="16A34A"/>
      </a:accent3>
      <a:accent4>
        <a:srgbClr val="DC2626"/>
      </a:accent4>
      <a:accent5>
        <a:srgbClr val="B45309"/>
      </a:accent5>
      <a:accent6>
        <a:srgbClr val="5B6573"/>
      </a:accent6>
      <a:hlink>
        <a:srgbClr val="1688F8"/>
      </a:hlink>
      <a:folHlink>
        <a:srgbClr val="5B6573"/>
      </a:folHlink>
    </a:clrScheme>
    <a:fontScheme name="TJFI Safet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JFI Safet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266c73c2184c2d" /><Relationship Type="http://schemas.openxmlformats.org/officeDocument/2006/relationships/image" Target="/ppt/media/image.png" Id="Rf7ad5e3b979241ec" /><Relationship Type="http://schemas.openxmlformats.org/officeDocument/2006/relationships/image" Target="/ppt/media/image2.png" Id="R43a94323314e45ac" /><Relationship Type="http://schemas.openxmlformats.org/officeDocument/2006/relationships/image" Target="/ppt/media/image3.png" Id="R3aaa968d14374fe9" /><Relationship Type="http://schemas.openxmlformats.org/officeDocument/2006/relationships/notesSlide" Target="/ppt/notesSlides/notesSlide1.xml" Id="Rf16f07d2c20944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1cb1cd43b19464c" /><Relationship Type="http://schemas.openxmlformats.org/officeDocument/2006/relationships/image" Target="/ppt/media/image4.png" Id="R0abd4c8103144637" /><Relationship Type="http://schemas.openxmlformats.org/officeDocument/2006/relationships/notesSlide" Target="/ppt/notesSlides/notesSlide2.xml" Id="R308dbb68cf3847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d6cad06691143bc" /><Relationship Type="http://schemas.openxmlformats.org/officeDocument/2006/relationships/notesSlide" Target="/ppt/notesSlides/notesSlide3.xml" Id="Rd00746eb4f2f4e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2fcbc9ee63849bd" /><Relationship Type="http://schemas.openxmlformats.org/officeDocument/2006/relationships/image" Target="/ppt/media/image5.png" Id="Re2ca308a33c44618" /><Relationship Type="http://schemas.openxmlformats.org/officeDocument/2006/relationships/notesSlide" Target="/ppt/notesSlides/notesSlide4.xml" Id="R2437fb47a02e4f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ae191e39898431e" /><Relationship Type="http://schemas.openxmlformats.org/officeDocument/2006/relationships/image" Target="/ppt/media/image6.png" Id="Ra3d0ec144dc24c75" /><Relationship Type="http://schemas.openxmlformats.org/officeDocument/2006/relationships/notesSlide" Target="/ppt/notesSlides/notesSlide5.xml" Id="R44ddf3f66bf045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7f45de3d61c4ff1" /><Relationship Type="http://schemas.openxmlformats.org/officeDocument/2006/relationships/image" Target="/ppt/media/image7.png" Id="R65a8c572a8d641d2" /><Relationship Type="http://schemas.openxmlformats.org/officeDocument/2006/relationships/notesSlide" Target="/ppt/notesSlides/notesSlide6.xml" Id="R204984b51eb14a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90ea084311344af" /><Relationship Type="http://schemas.openxmlformats.org/officeDocument/2006/relationships/image" Target="/ppt/media/image8.png" Id="R852abb0ce2334877" /><Relationship Type="http://schemas.openxmlformats.org/officeDocument/2006/relationships/notesSlide" Target="/ppt/notesSlides/notesSlide7.xml" Id="R6bb056b3704041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7738bc426c24acc" /><Relationship Type="http://schemas.openxmlformats.org/officeDocument/2006/relationships/image" Target="/ppt/media/image9.png" Id="Rac8741e08a3d435a" /><Relationship Type="http://schemas.openxmlformats.org/officeDocument/2006/relationships/notesSlide" Target="/ppt/notesSlides/notesSlide8.xml" Id="Rd93f3a01a48142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8a384e02cae47ca" /><Relationship Type="http://schemas.openxmlformats.org/officeDocument/2006/relationships/notesSlide" Target="/ppt/notesSlides/notesSlide9.xml" Id="Reb9f6c14a8714e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370d061a6394c6d" /><Relationship Type="http://schemas.openxmlformats.org/officeDocument/2006/relationships/notesSlide" Target="/ppt/notesSlides/notesSlide10.xml" Id="R55ab0819d2ed4e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395ad8155c046c6" /><Relationship Type="http://schemas.openxmlformats.org/officeDocument/2006/relationships/image" Target="/ppt/media/image10.png" Id="R49b9b9d30d444d57" /><Relationship Type="http://schemas.openxmlformats.org/officeDocument/2006/relationships/notesSlide" Target="/ppt/notesSlides/notesSlide11.xml" Id="R1b8e03837aa843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5630d5ec2e64782" /><Relationship Type="http://schemas.openxmlformats.org/officeDocument/2006/relationships/image" Target="/ppt/media/image11.png" Id="R070b37556f2d4cb1" /><Relationship Type="http://schemas.openxmlformats.org/officeDocument/2006/relationships/notesSlide" Target="/ppt/notesSlides/notesSlide12.xml" Id="R14cea6f9b80742c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e6cc6780353491b" /><Relationship Type="http://schemas.openxmlformats.org/officeDocument/2006/relationships/notesSlide" Target="/ppt/notesSlides/notesSlide13.xml" Id="Re9072002000943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df112ef3ccc488e" /><Relationship Type="http://schemas.openxmlformats.org/officeDocument/2006/relationships/image" Target="/ppt/media/image12.png" Id="R6cbe3669d8094612" /><Relationship Type="http://schemas.openxmlformats.org/officeDocument/2006/relationships/notesSlide" Target="/ppt/notesSlides/notesSlide14.xml" Id="R2295a099ca0346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8192fe1fd0948a7" /><Relationship Type="http://schemas.openxmlformats.org/officeDocument/2006/relationships/image" Target="/ppt/media/image13.png" Id="R0d20782b966742f7" /><Relationship Type="http://schemas.openxmlformats.org/officeDocument/2006/relationships/notesSlide" Target="/ppt/notesSlides/notesSlide15.xml" Id="R5cc71ae784c643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43445c5649a4da6" /><Relationship Type="http://schemas.openxmlformats.org/officeDocument/2006/relationships/image" Target="/ppt/media/image14.png" Id="R30309de3a58e46d6" /><Relationship Type="http://schemas.openxmlformats.org/officeDocument/2006/relationships/notesSlide" Target="/ppt/notesSlides/notesSlide16.xml" Id="R07e7a93c526f4a2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4681312a57740c4" /><Relationship Type="http://schemas.openxmlformats.org/officeDocument/2006/relationships/image" Target="/ppt/media/image15.png" Id="R11eb3341f9a74b9f" /><Relationship Type="http://schemas.openxmlformats.org/officeDocument/2006/relationships/notesSlide" Target="/ppt/notesSlides/notesSlide17.xml" Id="R0e3f7727d8b247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c70e98e3cae423a" /><Relationship Type="http://schemas.openxmlformats.org/officeDocument/2006/relationships/image" Target="/ppt/media/image16.png" Id="R4de526a756ef4e9b" /><Relationship Type="http://schemas.openxmlformats.org/officeDocument/2006/relationships/notesSlide" Target="/ppt/notesSlides/notesSlide18.xml" Id="Rb2cb5d633334414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>
            <a:extLst xmlns:a="http://schemas.openxmlformats.org/drawingml/2006/main">
              <a:ext uri="{FF2B5EF4-FFF2-40B4-BE49-F238E27FC236}">
                <a16:creationId xmlns:a16="http://schemas.microsoft.com/office/drawing/2014/main" id="{AE236660-F071-47EC-B1C2-903F629523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d5e3b979241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73152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93E488F6-191A-4427-A995-4C0713DB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6400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30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PT TJ FORGE INDONESIA  •  DEPARTEMEN HSE</a:t>
            </a:r>
            <a:endParaRPr sz="14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29488FC-D2CD-4026-AA64-3E58EC0D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68880"/>
            <a:ext cx="68580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4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Panduan Inspector</a:t>
            </a:r>
            <a:endParaRPr sz="54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F1E6277-D37A-4D75-A175-F6892C74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0440"/>
            <a:ext cx="6858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Safety Control System</a:t>
            </a:r>
            <a:endParaRPr sz="3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327DD30-C238-4EB2-8928-05425004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89120"/>
            <a:ext cx="62179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Cara melakukan inspeksi safety device dan alat K3 lewat HP: dari login sampai laporan hasil.</a:t>
            </a:r>
            <a:endParaRPr sz="18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E89D0AE-7E3D-489B-8F69-C1D09344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43600"/>
            <a:ext cx="6858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Versi 1.2  •  Oktober 2026  •  https://tjforge-hse.github.io/</a:t>
            </a:r>
            <a:endParaRPr sz="1300"/>
          </a:p>
        </p:txBody>
      </p:sp>
      <p:sp>
        <p:nvSpPr>
          <p:cNvPr id="8" name="Tampilan halaman login frame">
            <a:extLst xmlns:a="http://schemas.openxmlformats.org/drawingml/2006/main">
              <a:ext uri="{FF2B5EF4-FFF2-40B4-BE49-F238E27FC236}">
                <a16:creationId xmlns:a16="http://schemas.microsoft.com/office/drawing/2014/main" id="{C17DAE14-7751-4F80-8BEE-573E700A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762000"/>
            <a:ext cx="1657350" cy="5200650"/>
          </a:xfrm>
          <a:prstGeom xmlns:a="http://schemas.openxmlformats.org/drawingml/2006/main" prst="roundRect">
            <a:avLst>
              <a:gd name="adj" fmla="val 7417"/>
            </a:avLst>
          </a:prstGeom>
          <a:solidFill xmlns:a="http://schemas.openxmlformats.org/drawingml/2006/main">
            <a:schemeClr val="tx2"/>
          </a:solidFill>
        </p:spPr>
      </p:sp>
      <p:pic>
        <p:nvPicPr>
          <p:cNvPr id="9" name="Tampilan halaman login">
            <a:extLst xmlns:a="http://schemas.openxmlformats.org/drawingml/2006/main">
              <a:ext uri="{FF2B5EF4-FFF2-40B4-BE49-F238E27FC236}">
                <a16:creationId xmlns:a16="http://schemas.microsoft.com/office/drawing/2014/main" id="{6ED98C47-E32C-49C8-85CC-E18334B057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94323314e45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39300" y="866775"/>
            <a:ext cx="1466850" cy="499110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04D65-A7CF-425C-8311-E0455DF10E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a968d14374fe9"/>
          <a:stretch xmlns:a="http://schemas.openxmlformats.org/drawingml/2006/main"/>
        </p:blipFill>
        <p:spPr>
          <a:xfrm xmlns:a="http://schemas.openxmlformats.org/drawingml/2006/main">
            <a:off x="6709452" y="3086100"/>
            <a:ext cx="2773596" cy="2781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97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objective-slide-title">
            <a:extLst xmlns:a="http://schemas.openxmlformats.org/drawingml/2006/main">
              <a:ext uri="{FF2B5EF4-FFF2-40B4-BE49-F238E27FC236}">
                <a16:creationId xmlns:a16="http://schemas.microsoft.com/office/drawing/2014/main" id="{D93EFE47-A77C-4DBB-B491-53AA42C5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340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3400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Tujuan Pelaksanaan Cek APAR</a:t>
            </a:r>
          </a:p>
        </p:txBody>
      </p:sp>
      <p:sp>
        <p:nvSpPr>
          <p:cNvPr id="2" name="objective-summary">
            <a:extLst xmlns:a="http://schemas.openxmlformats.org/drawingml/2006/main">
              <a:ext uri="{FF2B5EF4-FFF2-40B4-BE49-F238E27FC236}">
                <a16:creationId xmlns:a16="http://schemas.microsoft.com/office/drawing/2014/main" id="{371CE30F-3664-4D34-B39C-0C074A61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57300"/>
            <a:ext cx="528066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3F6EA"/>
          </a:solidFill>
          <a:ln xmlns:a="http://schemas.openxmlformats.org/drawingml/2006/main" w="14288">
            <a:solidFill>
              <a:srgbClr val="16A34A"/>
            </a:solidFill>
            <a:prstDash val="solid"/>
          </a:ln>
        </p:spPr>
      </p:sp>
      <p:sp>
        <p:nvSpPr>
          <p:cNvPr id="3" name="objective-summary-text">
            <a:extLst xmlns:a="http://schemas.openxmlformats.org/drawingml/2006/main">
              <a:ext uri="{FF2B5EF4-FFF2-40B4-BE49-F238E27FC236}">
                <a16:creationId xmlns:a16="http://schemas.microsoft.com/office/drawing/2014/main" id="{BFDC8824-5231-40A4-A9CC-DE70917E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381125"/>
            <a:ext cx="482346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Menjaga APAR selalu siap digunakan dan memastikan setiap temuan segera ditindaklanjuti.</a:t>
            </a:r>
          </a:p>
        </p:txBody>
      </p:sp>
      <p:sp>
        <p:nvSpPr>
          <p:cNvPr id="4" name="objective-card-1">
            <a:extLst xmlns:a="http://schemas.openxmlformats.org/drawingml/2006/main">
              <a:ext uri="{FF2B5EF4-FFF2-40B4-BE49-F238E27FC236}">
                <a16:creationId xmlns:a16="http://schemas.microsoft.com/office/drawing/2014/main" id="{405376EA-A4FF-4301-9D91-116DDB16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52650"/>
            <a:ext cx="528066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5" name="objective-number-circle-1">
            <a:extLst xmlns:a="http://schemas.openxmlformats.org/drawingml/2006/main">
              <a:ext uri="{FF2B5EF4-FFF2-40B4-BE49-F238E27FC236}">
                <a16:creationId xmlns:a16="http://schemas.microsoft.com/office/drawing/2014/main" id="{C571F419-561C-4416-8330-E0113048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241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1DF40EE0-9579-495F-8CD4-FF9CD18F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241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  <a:lvl1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  <a:lvl2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2pPr>
            <a:lvl3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3pPr>
            <a:lvl4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4pPr>
            <a:lvl5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5pPr>
            <a:lvl6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6pPr>
            <a:lvl7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7pPr>
            <a:lvl8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8pPr>
            <a:lvl9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objective-title-1">
            <a:extLst xmlns:a="http://schemas.openxmlformats.org/drawingml/2006/main">
              <a:ext uri="{FF2B5EF4-FFF2-40B4-BE49-F238E27FC236}">
                <a16:creationId xmlns:a16="http://schemas.microsoft.com/office/drawing/2014/main" id="{A559D266-91ED-496D-8BC3-B380670D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38375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APAR siap pakai</a:t>
            </a:r>
          </a:p>
        </p:txBody>
      </p:sp>
      <p:sp>
        <p:nvSpPr>
          <p:cNvPr id="8" name="objective-body-1">
            <a:extLst xmlns:a="http://schemas.openxmlformats.org/drawingml/2006/main">
              <a:ext uri="{FF2B5EF4-FFF2-40B4-BE49-F238E27FC236}">
                <a16:creationId xmlns:a16="http://schemas.microsoft.com/office/drawing/2014/main" id="{2444D472-8AF9-4B9A-915B-3930A35A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24125"/>
            <a:ext cx="417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defPPr>
            <a:lvl1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1pPr>
            <a:lvl2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2pPr>
            <a:lvl3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3pPr>
            <a:lvl4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4pPr>
            <a:lvl5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5pPr>
            <a:lvl6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6pPr>
            <a:lvl7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7pPr>
            <a:lvl8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8pPr>
            <a:lvl9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pPr>
            <a:r>
              <a:rPr sz="1238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Memastikan kondisi fisik, tekanan, segel, pin, selang/nozzle, dan akses APAR tetap normal.</a:t>
            </a:r>
          </a:p>
        </p:txBody>
      </p:sp>
      <p:sp>
        <p:nvSpPr>
          <p:cNvPr id="9" name="objective-card-2">
            <a:extLst xmlns:a="http://schemas.openxmlformats.org/drawingml/2006/main">
              <a:ext uri="{FF2B5EF4-FFF2-40B4-BE49-F238E27FC236}">
                <a16:creationId xmlns:a16="http://schemas.microsoft.com/office/drawing/2014/main" id="{C4AF57C0-A2FE-4581-ACB2-3B2B2B1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28950"/>
            <a:ext cx="528066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objective-number-circle-2">
            <a:extLst xmlns:a="http://schemas.openxmlformats.org/drawingml/2006/main">
              <a:ext uri="{FF2B5EF4-FFF2-40B4-BE49-F238E27FC236}">
                <a16:creationId xmlns:a16="http://schemas.microsoft.com/office/drawing/2014/main" id="{6F340A3D-9633-46A6-8698-D2B5E567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00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7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461E7601-9B20-4A1D-ABC2-A7B2574F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004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  <a:lvl1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  <a:lvl2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2pPr>
            <a:lvl3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3pPr>
            <a:lvl4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4pPr>
            <a:lvl5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5pPr>
            <a:lvl6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6pPr>
            <a:lvl7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7pPr>
            <a:lvl8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8pPr>
            <a:lvl9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2" name="objective-title-2">
            <a:extLst xmlns:a="http://schemas.openxmlformats.org/drawingml/2006/main">
              <a:ext uri="{FF2B5EF4-FFF2-40B4-BE49-F238E27FC236}">
                <a16:creationId xmlns:a16="http://schemas.microsoft.com/office/drawing/2014/main" id="{5D92F9F9-FE10-4F14-8D8A-C9E9408BB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114675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Inspeksi tepat waktu</a:t>
            </a:r>
          </a:p>
        </p:txBody>
      </p:sp>
      <p:sp>
        <p:nvSpPr>
          <p:cNvPr id="13" name="objective-body-2">
            <a:extLst xmlns:a="http://schemas.openxmlformats.org/drawingml/2006/main">
              <a:ext uri="{FF2B5EF4-FFF2-40B4-BE49-F238E27FC236}">
                <a16:creationId xmlns:a16="http://schemas.microsoft.com/office/drawing/2014/main" id="{36BC0348-9233-4C36-905A-48C24195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00425"/>
            <a:ext cx="417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defPPr>
            <a:lvl1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1pPr>
            <a:lvl2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2pPr>
            <a:lvl3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3pPr>
            <a:lvl4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4pPr>
            <a:lvl5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5pPr>
            <a:lvl6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6pPr>
            <a:lvl7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7pPr>
            <a:lvl8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8pPr>
            <a:lvl9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pPr>
            <a:r>
              <a:rPr sz="1238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Memastikan inspeksi bulanan tidak terlewat melalui jadwal dan Job List.</a:t>
            </a:r>
          </a:p>
        </p:txBody>
      </p:sp>
      <p:sp>
        <p:nvSpPr>
          <p:cNvPr id="14" name="objective-card-3">
            <a:extLst xmlns:a="http://schemas.openxmlformats.org/drawingml/2006/main">
              <a:ext uri="{FF2B5EF4-FFF2-40B4-BE49-F238E27FC236}">
                <a16:creationId xmlns:a16="http://schemas.microsoft.com/office/drawing/2014/main" id="{CD50D532-C7A2-4730-840C-E048F105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05250"/>
            <a:ext cx="528066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objective-number-circle-3">
            <a:extLst xmlns:a="http://schemas.openxmlformats.org/drawingml/2006/main">
              <a:ext uri="{FF2B5EF4-FFF2-40B4-BE49-F238E27FC236}">
                <a16:creationId xmlns:a16="http://schemas.microsoft.com/office/drawing/2014/main" id="{28B07A68-7838-447F-B5CC-14E3A9C8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767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2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AB665AC8-1E6F-4F92-A68B-D5BBF2540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767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  <a:lvl1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  <a:lvl2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2pPr>
            <a:lvl3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3pPr>
            <a:lvl4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4pPr>
            <a:lvl5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5pPr>
            <a:lvl6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6pPr>
            <a:lvl7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7pPr>
            <a:lvl8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8pPr>
            <a:lvl9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objective-title-3">
            <a:extLst xmlns:a="http://schemas.openxmlformats.org/drawingml/2006/main">
              <a:ext uri="{FF2B5EF4-FFF2-40B4-BE49-F238E27FC236}">
                <a16:creationId xmlns:a16="http://schemas.microsoft.com/office/drawing/2014/main" id="{16EA9E8F-453B-4E37-888A-FFF0957C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90975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Data mudah ditelusuri</a:t>
            </a:r>
          </a:p>
        </p:txBody>
      </p:sp>
      <p:sp>
        <p:nvSpPr>
          <p:cNvPr id="18" name="objective-body-3">
            <a:extLst xmlns:a="http://schemas.openxmlformats.org/drawingml/2006/main">
              <a:ext uri="{FF2B5EF4-FFF2-40B4-BE49-F238E27FC236}">
                <a16:creationId xmlns:a16="http://schemas.microsoft.com/office/drawing/2014/main" id="{1DD63F39-391C-4083-9278-0F97FCBC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76725"/>
            <a:ext cx="417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defPPr>
            <a:lvl1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1pPr>
            <a:lvl2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2pPr>
            <a:lvl3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3pPr>
            <a:lvl4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4pPr>
            <a:lvl5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5pPr>
            <a:lvl6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6pPr>
            <a:lvl7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7pPr>
            <a:lvl8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8pPr>
            <a:lvl9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pPr>
            <a:r>
              <a:rPr sz="1238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Menyimpan checklist, foto, petugas, waktu, status, dan histori pada SCS.</a:t>
            </a:r>
          </a:p>
        </p:txBody>
      </p:sp>
      <p:sp>
        <p:nvSpPr>
          <p:cNvPr id="19" name="objective-card-4">
            <a:extLst xmlns:a="http://schemas.openxmlformats.org/drawingml/2006/main">
              <a:ext uri="{FF2B5EF4-FFF2-40B4-BE49-F238E27FC236}">
                <a16:creationId xmlns:a16="http://schemas.microsoft.com/office/drawing/2014/main" id="{13B94D17-910D-42A7-8064-1C9AEA95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81550"/>
            <a:ext cx="528066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1F5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objective-number-circle-4">
            <a:extLst xmlns:a="http://schemas.openxmlformats.org/drawingml/2006/main">
              <a:ext uri="{FF2B5EF4-FFF2-40B4-BE49-F238E27FC236}">
                <a16:creationId xmlns:a16="http://schemas.microsoft.com/office/drawing/2014/main" id="{FD973E51-C881-427C-8236-2DAD244D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530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CFE2AE76-A8F0-4A68-9D5B-6533CBB9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530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  <a:lvl1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  <a:lvl2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2pPr>
            <a:lvl3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3pPr>
            <a:lvl4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4pPr>
            <a:lvl5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5pPr>
            <a:lvl6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6pPr>
            <a:lvl7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7pPr>
            <a:lvl8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8pPr>
            <a:lvl9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" name="objective-title-4">
            <a:extLst xmlns:a="http://schemas.openxmlformats.org/drawingml/2006/main">
              <a:ext uri="{FF2B5EF4-FFF2-40B4-BE49-F238E27FC236}">
                <a16:creationId xmlns:a16="http://schemas.microsoft.com/office/drawing/2014/main" id="{84C22BE6-EE66-4232-B533-B243B78F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67275"/>
            <a:ext cx="4171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Tindak lanjut lebih cepat</a:t>
            </a:r>
          </a:p>
        </p:txBody>
      </p:sp>
      <p:sp>
        <p:nvSpPr>
          <p:cNvPr id="23" name="objective-body-4">
            <a:extLst xmlns:a="http://schemas.openxmlformats.org/drawingml/2006/main">
              <a:ext uri="{FF2B5EF4-FFF2-40B4-BE49-F238E27FC236}">
                <a16:creationId xmlns:a16="http://schemas.microsoft.com/office/drawing/2014/main" id="{F8802243-1ACB-45DA-BE9C-B9CD38C1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53025"/>
            <a:ext cx="417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defPPr>
            <a:lvl1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1pPr>
            <a:lvl2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2pPr>
            <a:lvl3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3pPr>
            <a:lvl4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4pPr>
            <a:lvl5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5pPr>
            <a:lvl6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6pPr>
            <a:lvl7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7pPr>
            <a:lvl8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8pPr>
            <a:lvl9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>
              <a:defRPr sz="1238">
                <a:solidFill>
                  <a:srgbClr val="1F2937"/>
                </a:solidFill>
                <a:latin typeface="Calibri"/>
                <a:ea typeface="Calibri"/>
                <a:cs typeface="Calibri"/>
              </a:defRPr>
            </a:pPr>
            <a:r>
              <a:rPr sz="1238">
                <a:solidFill>
                  <a:srgbClr val="1F2937"/>
                </a:solidFill>
                <a:latin typeface="Calibri"/>
                <a:ea typeface="Calibri"/>
                <a:cs typeface="Calibri"/>
              </a:rPr>
              <a:t>Item NG menjadi finding, masuk approval Admin HSE, dan dipantau hingga selesai.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E4F26D-8DDD-4DDC-B87A-536E9F9244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d4c8103144637"/>
          <a:stretch xmlns:a="http://schemas.openxmlformats.org/drawingml/2006/main"/>
        </p:blipFill>
        <p:spPr>
          <a:xfrm xmlns:a="http://schemas.openxmlformats.org/drawingml/2006/main">
            <a:off x="6048375" y="1698625"/>
            <a:ext cx="5562600" cy="3708400"/>
          </a:xfrm>
          <a:prstGeom xmlns:a="http://schemas.openxmlformats.org/drawingml/2006/main" prst="rect">
            <a:avLst/>
          </a:prstGeom>
        </p:spPr>
      </p:pic>
      <p:sp>
        <p:nvSpPr>
          <p:cNvPr id="25" name="objective-closing">
            <a:extLst xmlns:a="http://schemas.openxmlformats.org/drawingml/2006/main">
              <a:ext uri="{FF2B5EF4-FFF2-40B4-BE49-F238E27FC236}">
                <a16:creationId xmlns:a16="http://schemas.microsoft.com/office/drawing/2014/main" id="{EFC9A380-390B-4F05-B134-8C9F3287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7340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defPPr>
            <a:lvl1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1pPr>
            <a:lvl2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2pPr>
            <a:lvl3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3pPr>
            <a:lvl4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4pPr>
            <a:lvl5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5pPr>
            <a:lvl6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6pPr>
            <a:lvl7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7pPr>
            <a:lvl8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8pPr>
            <a:lvl9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0B2545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B2545"/>
                </a:solidFill>
                <a:latin typeface="Calibri"/>
                <a:ea typeface="Calibri"/>
                <a:cs typeface="Calibri"/>
              </a:rPr>
              <a:t>Tujuan akhir: APAR siap digunakan saat keadaan darurat.</a:t>
            </a:r>
          </a:p>
        </p:txBody>
      </p:sp>
      <p:sp>
        <p:nvSpPr>
          <p:cNvPr id="26" name="objective-slide-number">
            <a:extLst xmlns:a="http://schemas.openxmlformats.org/drawingml/2006/main">
              <a:ext uri="{FF2B5EF4-FFF2-40B4-BE49-F238E27FC236}">
                <a16:creationId xmlns:a16="http://schemas.microsoft.com/office/drawing/2014/main" id="{FEAF2FC3-2DDF-4DEA-8E49-AB64F442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defPPr>
            <a:lvl1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1pPr>
            <a:lvl2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2pPr>
            <a:lvl3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3pPr>
            <a:lvl4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4pPr>
            <a:lvl5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5pPr>
            <a:lvl6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6pPr>
            <a:lvl7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7pPr>
            <a:lvl8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8pPr>
            <a:lvl9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r">
              <a:defRPr sz="1100">
                <a:solidFill>
                  <a:srgbClr val="5B6573"/>
                </a:solidFill>
                <a:latin typeface="Calibri"/>
                <a:ea typeface="Calibri"/>
                <a:cs typeface="Calibri"/>
              </a:defRPr>
            </a:pPr>
            <a:r>
              <a:rPr sz="1100">
                <a:solidFill>
                  <a:srgbClr val="5B6573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816948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D2EA904-428E-4F06-9E4C-5EB54BADFC05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Ringkasan 1 menit</a:t>
            </a:r>
            <a:endParaRPr sz="3400"/>
          </a:p>
        </p:txBody>
      </p:sp>
      <p:sp>
        <p:nvSpPr>
          <p:cNvPr id="3" name="card Login">
            <a:extLst xmlns:a="http://schemas.openxmlformats.org/drawingml/2006/main">
              <a:ext uri="{FF2B5EF4-FFF2-40B4-BE49-F238E27FC236}">
                <a16:creationId xmlns:a16="http://schemas.microsoft.com/office/drawing/2014/main" id="{3E511A9D-67B4-40D7-BFF3-4F055FBB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2084832" cy="35661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A41176-DFB1-44FB-B07E-E23DC2E3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918AE29-9082-4E85-B625-00E3B66C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8D99389-1CC1-4901-B252-22E9140D5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737360"/>
            <a:ext cx="117043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Login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87377CA-3B6D-4CAB-AFBA-3EF8F80C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77440"/>
            <a:ext cx="1627632" cy="2679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Buka sistem di HP, login dengan ID dan password dari HSE. Login pertama: buat password baru.</a:t>
            </a:r>
            <a:endParaRPr sz="1800"/>
          </a:p>
        </p:txBody>
      </p:sp>
      <p:sp>
        <p:nvSpPr>
          <p:cNvPr id="8" name="card Scan QR">
            <a:extLst xmlns:a="http://schemas.openxmlformats.org/drawingml/2006/main">
              <a:ext uri="{FF2B5EF4-FFF2-40B4-BE49-F238E27FC236}">
                <a16:creationId xmlns:a16="http://schemas.microsoft.com/office/drawing/2014/main" id="{EDF256D4-7AEA-4BEE-A3BB-A905F7E1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492" y="1600200"/>
            <a:ext cx="2084832" cy="35661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1217260-5F86-4D58-A0E4-B9C82CA7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6372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88EAE0C-76E8-42EE-90EB-0CB8B4EE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6372" y="17830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A93D020-6654-44B8-8D3E-D8662FE4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0732" y="1737360"/>
            <a:ext cx="117043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Scan QR</a:t>
            </a:r>
            <a:endParaRPr sz="2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461AA9C-9383-4C21-AF87-E4C6D2E5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092" y="2377440"/>
            <a:ext cx="1627632" cy="2679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Menu Inspeksi → Scan QR untuk Mulai Inspeksi → arahkan kamera ke QR di alat.</a:t>
            </a:r>
            <a:endParaRPr sz="1800"/>
          </a:p>
        </p:txBody>
      </p:sp>
      <p:sp>
        <p:nvSpPr>
          <p:cNvPr id="13" name="card Isi checklist">
            <a:extLst xmlns:a="http://schemas.openxmlformats.org/drawingml/2006/main">
              <a:ext uri="{FF2B5EF4-FFF2-40B4-BE49-F238E27FC236}">
                <a16:creationId xmlns:a16="http://schemas.microsoft.com/office/drawing/2014/main" id="{A60CC16E-0EAA-4320-8E7A-8DCF1E22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344" y="1600200"/>
            <a:ext cx="2084832" cy="35661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663CBF2-AD03-4CE9-AA8E-EE3C9C1B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35E715-7E99-4A0B-AB9F-B0FEF0C7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17830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8D2C705-D1E4-49C7-B2EC-A0A59B74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737360"/>
            <a:ext cx="117043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Isi checklist</a:t>
            </a:r>
            <a:endParaRPr sz="2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492FC38-B53F-486E-8C2F-0670C420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6944" y="2377440"/>
            <a:ext cx="1627632" cy="2679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Pilih OK / NG / N/A di setiap item. Item bukti foto wajib harus ada fotonya.</a:t>
            </a:r>
            <a:endParaRPr sz="1800"/>
          </a:p>
        </p:txBody>
      </p:sp>
      <p:sp>
        <p:nvSpPr>
          <p:cNvPr id="18" name="card Kirim">
            <a:extLst xmlns:a="http://schemas.openxmlformats.org/drawingml/2006/main">
              <a:ext uri="{FF2B5EF4-FFF2-40B4-BE49-F238E27FC236}">
                <a16:creationId xmlns:a16="http://schemas.microsoft.com/office/drawing/2014/main" id="{2ABAEAFC-D833-4071-9FC8-C98E3733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3196" y="1600200"/>
            <a:ext cx="2084832" cy="35661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57F6ADE-9CA2-49DB-867E-2C3E30A3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076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D147B9B-3CD0-4703-A4C6-AB79FFD7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076" y="17830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015957A-05A3-4BF8-BB71-E281FAA5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0436" y="1737360"/>
            <a:ext cx="117043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Kirim</a:t>
            </a:r>
            <a:endParaRPr sz="2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503DD36-0B58-42F0-A933-1463105A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1796" y="2377440"/>
            <a:ext cx="1627632" cy="2679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Tekan Simpan &amp; Kirim Approval. Hasil masuk ke Admin. Jika ada NG, finding dibuat otomatis.</a:t>
            </a:r>
            <a:endParaRPr sz="1800"/>
          </a:p>
        </p:txBody>
      </p:sp>
      <p:sp>
        <p:nvSpPr>
          <p:cNvPr id="23" name="card Tepat waktu">
            <a:extLst xmlns:a="http://schemas.openxmlformats.org/drawingml/2006/main">
              <a:ext uri="{FF2B5EF4-FFF2-40B4-BE49-F238E27FC236}">
                <a16:creationId xmlns:a16="http://schemas.microsoft.com/office/drawing/2014/main" id="{4AD80812-7925-468E-B270-AFBACC2F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1600200"/>
            <a:ext cx="2084832" cy="356616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FCD9E26-639F-4D7C-AD20-4052C8EE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178308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F8CA794-5588-4EC5-813F-B9CE3A49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178308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5</a:t>
            </a:r>
            <a:endParaRPr sz="1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82CFFD5-004A-415D-86A7-3FFA88CA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288" y="1737360"/>
            <a:ext cx="117043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Tepat waktu</a:t>
            </a:r>
            <a:endParaRPr sz="2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0FB61DE-5601-4E27-892A-94F3C280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2377440"/>
            <a:ext cx="1627632" cy="2679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Batas inspeksi APAR: tanggal 5 setiap bulan (jendela tanggal 1–5).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E6E6894-42C2-4EC5-BD5D-CEF0D1C7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8640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i="1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Inspeksi hanya dimulai lewat scan QR pada alatnya. Daftar tugas dan Job List hanyalah penanda.</a:t>
            </a:r>
            <a:endParaRPr sz="18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5EF7F-859C-4EE4-B74E-B615875BC4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3025698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812CE4-C060-467C-9C2B-30E51A69F1B9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Peran Inspector</a:t>
            </a:r>
            <a:endParaRPr sz="3400"/>
          </a:p>
        </p:txBody>
      </p:sp>
      <p:sp>
        <p:nvSpPr>
          <p:cNvPr id="3" name="card Yang dapat Anda lakukan">
            <a:extLst xmlns:a="http://schemas.openxmlformats.org/drawingml/2006/main">
              <a:ext uri="{FF2B5EF4-FFF2-40B4-BE49-F238E27FC236}">
                <a16:creationId xmlns:a16="http://schemas.microsoft.com/office/drawing/2014/main" id="{5AE5DAEB-038A-4ADF-AEC4-13E9A764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544068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A3E2D09-A407-4F2E-9235-124D4627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Yang dapat Anda lakukan</a:t>
            </a:r>
            <a:endParaRPr sz="2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EC4D7E2-7EE8-4B29-93C4-0B095CDD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4983480" cy="3730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Inspeksi asset di plant yang menjadi wewenang Anda</a:t>
            </a:r>
            <a:endParaRPr sz="2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Melihat Job List dan tugas inspeksi bulan ini</a:t>
            </a:r>
            <a:endParaRPr sz="2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Melihat riwayat inspeksi dan finding di plant Anda</a:t>
            </a:r>
            <a:endParaRPr sz="2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Mengganti password sendiri kapan saja</a:t>
            </a:r>
            <a:endParaRPr sz="2100"/>
          </a:p>
        </p:txBody>
      </p:sp>
      <p:sp>
        <p:nvSpPr>
          <p:cNvPr id="6" name="card Dilakukan Admin HSE">
            <a:extLst xmlns:a="http://schemas.openxmlformats.org/drawingml/2006/main">
              <a:ext uri="{FF2B5EF4-FFF2-40B4-BE49-F238E27FC236}">
                <a16:creationId xmlns:a16="http://schemas.microsoft.com/office/drawing/2014/main" id="{E8C4ADE5-A9B1-48DB-8E77-6F44E891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54480"/>
            <a:ext cx="5440680" cy="448056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661B335-E037-46D9-BEF4-0DDE4A04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9164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accent5"/>
                </a:solidFill>
                <a:latin typeface="Calibri"/>
                <a:ea typeface="Calibri"/>
                <a:cs typeface="Calibri"/>
              </a:rPr>
              <a:t>Dilakukan Admin HSE</a:t>
            </a:r>
            <a:endParaRPr sz="2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5A3C4C6-5930-456F-8408-414A73BB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4560"/>
            <a:ext cx="4983480" cy="3730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Approval atau penolakan hasil inspeksi</a:t>
            </a:r>
            <a:endParaRPr sz="2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Menambah, mengedit, dan mengganti asset (termasuk spare)</a:t>
            </a:r>
            <a:endParaRPr sz="2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Menutup finding, membuat akun, mereset password</a:t>
            </a:r>
            <a:endParaRPr sz="21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21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Mengatur checklist, jadwal, dan penugasan Job List</a:t>
            </a:r>
            <a:endParaRPr sz="2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34BAE63-3D37-4710-8323-C60ED0E482E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3D073F-AAC2-4695-9AD4-1D1195AD26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ca308a33c44618"/>
          <a:stretch xmlns:a="http://schemas.openxmlformats.org/drawingml/2006/main"/>
        </p:blipFill>
        <p:spPr>
          <a:xfrm xmlns:a="http://schemas.openxmlformats.org/drawingml/2006/main">
            <a:off x="5281788" y="4762500"/>
            <a:ext cx="1628424" cy="1619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9749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40C949-B93D-4E0E-B008-0E91748DF009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Persiapan dan akses</a:t>
            </a:r>
            <a:endParaRPr sz="3400"/>
          </a:p>
        </p:txBody>
      </p:sp>
      <p:sp>
        <p:nvSpPr>
          <p:cNvPr id="3" name="card Yang diperlukan">
            <a:extLst xmlns:a="http://schemas.openxmlformats.org/drawingml/2006/main">
              <a:ext uri="{FF2B5EF4-FFF2-40B4-BE49-F238E27FC236}">
                <a16:creationId xmlns:a16="http://schemas.microsoft.com/office/drawing/2014/main" id="{29EB03E9-8F75-4FCD-B408-BE20E00F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949440" cy="2148840"/>
          </a:xfrm>
          <a:prstGeom xmlns:a="http://schemas.openxmlformats.org/drawingml/2006/main" prst="roundRect">
            <a:avLst>
              <a:gd name="adj" fmla="val 5106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055502B-CB09-4467-9A61-FF02A1E8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6492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Yang diperlukan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73E22DF-5EBA-43EE-B9A4-9BA1BBD1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649224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HP dengan kamera berfungsi dan koneksi internet</a:t>
            </a:r>
            <a:endParaRPr sz="18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Browser Chrome (Android) atau Safari (iPhone), versi terbaru</a:t>
            </a:r>
            <a:endParaRPr sz="18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ID user dan password awal dari Departemen HSE</a:t>
            </a:r>
            <a:endParaRPr sz="1800"/>
          </a:p>
        </p:txBody>
      </p:sp>
      <p:sp>
        <p:nvSpPr>
          <p:cNvPr id="6" name="card Android (Chrome)">
            <a:extLst xmlns:a="http://schemas.openxmlformats.org/drawingml/2006/main">
              <a:ext uri="{FF2B5EF4-FFF2-40B4-BE49-F238E27FC236}">
                <a16:creationId xmlns:a16="http://schemas.microsoft.com/office/drawing/2014/main" id="{4620B300-EB53-490E-9965-F5E1C7D1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86200"/>
            <a:ext cx="338328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990C4A4-BAE0-4558-AEF9-56B1A643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Android (Chrome)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85D9CD-7599-41D4-BA40-634B236F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26280"/>
            <a:ext cx="292608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Ketuk Pasang di layar utama HP di halaman login, atau menu ⋮ → Instal aplikasi.</a:t>
            </a:r>
            <a:endParaRPr sz="1700"/>
          </a:p>
        </p:txBody>
      </p:sp>
      <p:sp>
        <p:nvSpPr>
          <p:cNvPr id="9" name="card iPhone (Safari)">
            <a:extLst xmlns:a="http://schemas.openxmlformats.org/drawingml/2006/main">
              <a:ext uri="{FF2B5EF4-FFF2-40B4-BE49-F238E27FC236}">
                <a16:creationId xmlns:a16="http://schemas.microsoft.com/office/drawing/2014/main" id="{C44DE3F5-D7D0-431F-BD0D-D04A9670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338328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8B688FB-E063-442B-8762-3C4F7C12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23360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iPhone (Safari)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CFF60F3-6AB5-41FE-AB9A-627CF271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26280"/>
            <a:ext cx="292608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Ketuk Bagikan → Tambah ke Layar Utama → Tambah.</a:t>
            </a:r>
            <a:endParaRPr sz="1700"/>
          </a:p>
        </p:txBody>
      </p:sp>
      <p:sp>
        <p:nvSpPr>
          <p:cNvPr id="12" name="Halaman login di HP frame">
            <a:extLst xmlns:a="http://schemas.openxmlformats.org/drawingml/2006/main">
              <a:ext uri="{FF2B5EF4-FFF2-40B4-BE49-F238E27FC236}">
                <a16:creationId xmlns:a16="http://schemas.microsoft.com/office/drawing/2014/main" id="{44B36309-A85E-4B48-AD8F-65E71558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307592"/>
            <a:ext cx="2332110" cy="4791456"/>
          </a:xfrm>
          <a:prstGeom xmlns:a="http://schemas.openxmlformats.org/drawingml/2006/main" prst="roundRect">
            <a:avLst>
              <a:gd name="adj" fmla="val 8626"/>
            </a:avLst>
          </a:prstGeom>
          <a:solidFill xmlns:a="http://schemas.openxmlformats.org/drawingml/2006/main">
            <a:schemeClr val="tx2"/>
          </a:solidFill>
        </p:spPr>
      </p:sp>
      <p:pic>
        <p:nvPicPr>
          <p:cNvPr id="13" name="Halaman login di HP">
            <a:extLst xmlns:a="http://schemas.openxmlformats.org/drawingml/2006/main">
              <a:ext uri="{FF2B5EF4-FFF2-40B4-BE49-F238E27FC236}">
                <a16:creationId xmlns:a16="http://schemas.microsoft.com/office/drawing/2014/main" id="{CA0D887C-950B-4C95-8682-FEEE521028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0ec144dc24c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95360" y="1417320"/>
            <a:ext cx="2112654" cy="4572000"/>
          </a:xfrm>
          <a:prstGeom xmlns:a="http://schemas.openxmlformats.org/drawingml/2006/main" prst="rect">
            <a:avLst/>
          </a:prstGeom>
        </p:spPr>
      </p:pic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CB27991-81D6-4DC3-A85D-A67484AC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172200"/>
            <a:ext cx="3566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Izinkan akses kamera saat diminta browser.</a:t>
            </a:r>
            <a:endParaRPr sz="12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9A22CF5-7E13-46D7-A1A2-10B7A73CEF9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65591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E14C26B-2F58-43DB-A065-B0D6D30F500F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Login dan password</a:t>
            </a:r>
            <a:endParaRPr sz="34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3C7DE43-5FCF-46E8-8321-7A5EC441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41D011E-BAEF-4D88-932C-85E3CE83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1</a:t>
            </a:r>
            <a:endParaRPr sz="2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971322B-F703-46B3-B950-EA94E0CC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554480"/>
            <a:ext cx="4754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Masukkan Username dan Password awal dari HSE</a:t>
            </a:r>
            <a:endParaRPr sz="18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6B0B592-9AFF-4F1E-A4C2-F9D0447B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B214222-EECF-4F28-BAEB-ED0D7D14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0604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2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6EA52B6-9438-4419-8971-7D46EEAD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514600"/>
            <a:ext cx="4754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Tekan Masuk</a:t>
            </a:r>
            <a:endParaRPr sz="1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AA0F440-5BCF-4085-9950-17E53F46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0870888-EF65-4D11-864C-CAE21D51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3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DB6442B-DE28-4643-A9D9-F43AD939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474720"/>
            <a:ext cx="4754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Muncul Buat Password Baru: isi dua kali, lalu Simpan Password</a:t>
            </a:r>
            <a:endParaRPr sz="1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C53BD4F-D07F-4DDE-B29B-3ED3CE1F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D90FEC2-5EF7-4309-99DC-7D90BC06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4</a:t>
            </a:r>
            <a:endParaRPr sz="2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F6925D5-BA18-4A71-B991-6454DC3A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434840"/>
            <a:ext cx="4754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Anda masuk ke halaman Inspeksi</a:t>
            </a:r>
            <a:endParaRPr sz="1800"/>
          </a:p>
        </p:txBody>
      </p:sp>
      <p:sp>
        <p:nvSpPr>
          <p:cNvPr id="15" name="card Aturan password">
            <a:extLst xmlns:a="http://schemas.openxmlformats.org/drawingml/2006/main">
              <a:ext uri="{FF2B5EF4-FFF2-40B4-BE49-F238E27FC236}">
                <a16:creationId xmlns:a16="http://schemas.microsoft.com/office/drawing/2014/main" id="{165DF5E1-FC54-4AFD-AFCF-53F88C61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212080" cy="452628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654A8D2-304D-4286-A8EA-8F16D027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91640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Aturan password</a:t>
            </a:r>
            <a:endParaRPr sz="2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9401F70-FD71-4733-A993-DE8C2F15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4560"/>
            <a:ext cx="4754880" cy="3776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Minimal 6 karakter; tidak boleh sama dengan password lama atau ID user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Gunakan kombinasi huruf dan angka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Password terenkripsi: Admin tidak dapat melihatnya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Jangan dibagikan. Setiap inspeksi tercatat atas nama Anda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Ganti kapan saja lewat tombol 🔑 Password</a:t>
            </a:r>
            <a:endParaRPr sz="1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DDA0210-AA5F-453B-B965-9A48EFBA263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5A8E74-E03E-4714-9344-290D50EAA8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8c572a8d641d2"/>
          <a:stretch xmlns:a="http://schemas.openxmlformats.org/drawingml/2006/main"/>
        </p:blipFill>
        <p:spPr>
          <a:xfrm xmlns:a="http://schemas.openxmlformats.org/drawingml/2006/main">
            <a:off x="4898516" y="5105400"/>
            <a:ext cx="1156718" cy="1123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450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1A63B00-C594-4763-A220-28CF3FEE0AD3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Lupa password</a:t>
            </a:r>
            <a:endParaRPr sz="3400"/>
          </a:p>
        </p:txBody>
      </p:sp>
      <p:sp>
        <p:nvSpPr>
          <p:cNvPr id="3" name="card Ketuk Lupa password?">
            <a:extLst xmlns:a="http://schemas.openxmlformats.org/drawingml/2006/main">
              <a:ext uri="{FF2B5EF4-FFF2-40B4-BE49-F238E27FC236}">
                <a16:creationId xmlns:a16="http://schemas.microsoft.com/office/drawing/2014/main" id="{73633F8B-B771-4CCC-AFBA-39D1B151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2606040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C6F13A-E3D3-4067-A12B-01DE999E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39FEEC3-9DBD-4FC6-97C1-97991CAA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1B0F36F-F4DF-40DC-80E7-5DAEC2B6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783080"/>
            <a:ext cx="1691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Ketuk Lupa password?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53A2BB-DD3E-474E-AA92-1B6694B0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23160"/>
            <a:ext cx="2148840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di halaman login</a:t>
            </a:r>
            <a:endParaRPr sz="1800"/>
          </a:p>
        </p:txBody>
      </p:sp>
      <p:sp>
        <p:nvSpPr>
          <p:cNvPr id="8" name="card Isi username">
            <a:extLst xmlns:a="http://schemas.openxmlformats.org/drawingml/2006/main">
              <a:ext uri="{FF2B5EF4-FFF2-40B4-BE49-F238E27FC236}">
                <a16:creationId xmlns:a16="http://schemas.microsoft.com/office/drawing/2014/main" id="{387C9B05-57F9-4DD4-B942-CE0E860B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645920"/>
            <a:ext cx="2606040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53375DF-0B12-41C6-BF54-D4E15247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28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0A86D90-3BC9-4B6D-9250-C0C0D78F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28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D83F566-E267-4089-89D4-B69A50F2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2232" y="1783080"/>
            <a:ext cx="1691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Isi username</a:t>
            </a:r>
            <a:endParaRPr sz="1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B9B22D8-4B2A-436E-9EFB-B41B004C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423160"/>
            <a:ext cx="2148840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lalu Kirim Permintaan ke Admin</a:t>
            </a:r>
            <a:endParaRPr sz="1800"/>
          </a:p>
        </p:txBody>
      </p:sp>
      <p:sp>
        <p:nvSpPr>
          <p:cNvPr id="13" name="card Hubungi Admin HSE">
            <a:extLst xmlns:a="http://schemas.openxmlformats.org/drawingml/2006/main">
              <a:ext uri="{FF2B5EF4-FFF2-40B4-BE49-F238E27FC236}">
                <a16:creationId xmlns:a16="http://schemas.microsoft.com/office/drawing/2014/main" id="{85E1E6E1-E602-4B84-999D-0B6D4CC2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45920"/>
            <a:ext cx="2606040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EE59EC8-95E0-4A62-86CE-B8C40BAF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1828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F72F93B-EF43-49CF-84AF-A6B361A5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1828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0BD7F8E-FC9F-4F12-92D5-7A9F6884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584" y="1783080"/>
            <a:ext cx="1691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Hubungi Admin HSE</a:t>
            </a:r>
            <a:endParaRPr sz="19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0312026-600F-492D-A254-EE24349D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423160"/>
            <a:ext cx="2148840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Admin membuat password sementara dan menyerahkannya langsung</a:t>
            </a:r>
            <a:endParaRPr sz="1800"/>
          </a:p>
        </p:txBody>
      </p:sp>
      <p:sp>
        <p:nvSpPr>
          <p:cNvPr id="18" name="card Login dan ganti">
            <a:extLst xmlns:a="http://schemas.openxmlformats.org/drawingml/2006/main">
              <a:ext uri="{FF2B5EF4-FFF2-40B4-BE49-F238E27FC236}">
                <a16:creationId xmlns:a16="http://schemas.microsoft.com/office/drawing/2014/main" id="{949D8F49-DEC8-4C68-BF37-08624664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1645920"/>
            <a:ext cx="2606040" cy="246888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7BEAE9E-161C-4A21-965B-09F055D99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828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16CA2EA-5B35-47C4-9B28-92D9D029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8288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4A1E5CB-C73A-4C6C-87DF-B98A3391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4936" y="1783080"/>
            <a:ext cx="1691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Login dan ganti</a:t>
            </a:r>
            <a:endParaRPr sz="1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98F0D64-696C-47DC-B2BE-74E5FEAD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423160"/>
            <a:ext cx="2148840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buat password baru Anda sendiri</a:t>
            </a:r>
            <a:endParaRPr sz="1800"/>
          </a:p>
        </p:txBody>
      </p:sp>
      <p:sp>
        <p:nvSpPr>
          <p:cNvPr id="23" name="card Login terkunci?">
            <a:extLst xmlns:a="http://schemas.openxmlformats.org/drawingml/2006/main">
              <a:ext uri="{FF2B5EF4-FFF2-40B4-BE49-F238E27FC236}">
                <a16:creationId xmlns:a16="http://schemas.microsoft.com/office/drawing/2014/main" id="{107C3B56-BE15-48B5-BA77-FB3D7CDE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89120"/>
            <a:ext cx="544068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A997166-85C5-4C24-AC54-BEE450D9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52628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Login terkunci?</a:t>
            </a:r>
            <a:endParaRPr sz="1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F05660D-3953-41D9-B7A0-7F7EE04D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498348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Setelah 5 kali salah password, login terkunci sementara sekitar 10 menit.</a:t>
            </a:r>
            <a:endParaRPr sz="1800"/>
          </a:p>
        </p:txBody>
      </p:sp>
      <p:sp>
        <p:nvSpPr>
          <p:cNvPr id="26" name="card Sesi login 12 jam">
            <a:extLst xmlns:a="http://schemas.openxmlformats.org/drawingml/2006/main">
              <a:ext uri="{FF2B5EF4-FFF2-40B4-BE49-F238E27FC236}">
                <a16:creationId xmlns:a16="http://schemas.microsoft.com/office/drawing/2014/main" id="{4727A728-4C3E-475E-A4CD-AEF2EDF5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9120"/>
            <a:ext cx="5440680" cy="173736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A3555E0-40F2-443A-B340-1E8AF996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2628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Sesi login 12 jam</a:t>
            </a:r>
            <a:endParaRPr sz="1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01CC76D-6B16-4D9C-8B19-77398E4B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29200"/>
            <a:ext cx="498348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Setelah 12 jam, atau setelah password direset Admin, Anda perlu login ulang.</a:t>
            </a:r>
            <a:endParaRPr sz="18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D1FB4EF-89F7-4AA2-8429-8B1B7F72649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A2D751-7E00-4DDF-B7B3-B42B006DF8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bb0ce2334877"/>
          <a:stretch xmlns:a="http://schemas.openxmlformats.org/drawingml/2006/main"/>
        </p:blipFill>
        <p:spPr>
          <a:xfrm xmlns:a="http://schemas.openxmlformats.org/drawingml/2006/main">
            <a:off x="10410825" y="247650"/>
            <a:ext cx="1104900" cy="1104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05333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542636-F665-4736-890C-469378CA18B2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Job List Saya: asset tanggung jawab Anda</a:t>
            </a:r>
            <a:endParaRPr sz="3400"/>
          </a:p>
        </p:txBody>
      </p:sp>
      <p:sp>
        <p:nvSpPr>
          <p:cNvPr id="3" name="Panel Job List Saya frame">
            <a:extLst xmlns:a="http://schemas.openxmlformats.org/drawingml/2006/main">
              <a:ext uri="{FF2B5EF4-FFF2-40B4-BE49-F238E27FC236}">
                <a16:creationId xmlns:a16="http://schemas.microsoft.com/office/drawing/2014/main" id="{C4F3F2AF-1272-4684-ABBD-490088D4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216152"/>
            <a:ext cx="2294336" cy="5157216"/>
          </a:xfrm>
          <a:prstGeom xmlns:a="http://schemas.openxmlformats.org/drawingml/2006/main" prst="roundRect">
            <a:avLst>
              <a:gd name="adj" fmla="val 8768"/>
            </a:avLst>
          </a:prstGeom>
          <a:solidFill xmlns:a="http://schemas.openxmlformats.org/drawingml/2006/main">
            <a:schemeClr val="tx2"/>
          </a:solidFill>
        </p:spPr>
      </p:sp>
      <p:pic>
        <p:nvPicPr>
          <p:cNvPr id="4" name="Panel Job List Saya">
            <a:extLst xmlns:a="http://schemas.openxmlformats.org/drawingml/2006/main">
              <a:ext uri="{FF2B5EF4-FFF2-40B4-BE49-F238E27FC236}">
                <a16:creationId xmlns:a16="http://schemas.microsoft.com/office/drawing/2014/main" id="{C7E4C68B-D94E-495F-8102-7EC1E8FA0A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741e08a3d43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1325880"/>
            <a:ext cx="2074880" cy="4937760"/>
          </a:xfrm>
          <a:prstGeom xmlns:a="http://schemas.openxmlformats.org/drawingml/2006/main" prst="rect">
            <a:avLst/>
          </a:prstGeom>
        </p:spPr>
      </p:pic>
      <p:sp>
        <p:nvSpPr>
          <p:cNvPr id="5" name="card Penanda, bukan pembatas">
            <a:extLst xmlns:a="http://schemas.openxmlformats.org/drawingml/2006/main">
              <a:ext uri="{FF2B5EF4-FFF2-40B4-BE49-F238E27FC236}">
                <a16:creationId xmlns:a16="http://schemas.microsoft.com/office/drawing/2014/main" id="{E19FC01A-414D-4636-9906-17359953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1371600"/>
            <a:ext cx="7589520" cy="128016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A4971BF-A01F-4562-A87E-E3D8E908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508760"/>
            <a:ext cx="7132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Penanda, bukan pembatas</a:t>
            </a:r>
            <a:endParaRPr sz="19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ED30C54-F6D4-4142-B58C-AA6464A4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011680"/>
            <a:ext cx="7132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6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Job List menunjukkan asset yang ditugaskan Admin kepada Anda. Asset lain di plant Anda tetap boleh diinspeksi lewat scan QR.</a:t>
            </a:r>
            <a:endParaRPr sz="1600"/>
          </a:p>
        </p:txBody>
      </p:sp>
      <p:sp>
        <p:nvSpPr>
          <p:cNvPr id="8" name="card Dikelompokkan per area">
            <a:extLst xmlns:a="http://schemas.openxmlformats.org/drawingml/2006/main">
              <a:ext uri="{FF2B5EF4-FFF2-40B4-BE49-F238E27FC236}">
                <a16:creationId xmlns:a16="http://schemas.microsoft.com/office/drawing/2014/main" id="{319BFA60-BCDC-4669-9633-F877EF09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2834640"/>
            <a:ext cx="374904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6341CF-CAB8-4A8E-9C09-DCF24687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97180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Dikelompokkan per area</a:t>
            </a:r>
            <a:endParaRPr sz="17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2C9D8BF-C708-4091-A7B0-F35EB70E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474720"/>
            <a:ext cx="329184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5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Ketuk nama area untuk membuka atau menutup daftar.</a:t>
            </a:r>
            <a:endParaRPr sz="1500"/>
          </a:p>
        </p:txBody>
      </p:sp>
      <p:sp>
        <p:nvSpPr>
          <p:cNvPr id="11" name="card Status tiap asset">
            <a:extLst xmlns:a="http://schemas.openxmlformats.org/drawingml/2006/main">
              <a:ext uri="{FF2B5EF4-FFF2-40B4-BE49-F238E27FC236}">
                <a16:creationId xmlns:a16="http://schemas.microsoft.com/office/drawing/2014/main" id="{4CE668CB-AB13-435F-BFDB-DABD1E16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834640"/>
            <a:ext cx="374904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024D136-BF1D-4C9A-BA03-925CA14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97180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Status tiap asset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08CBE95-5EA8-4331-95D0-3A6A2E5E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74720"/>
            <a:ext cx="329184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5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Belum diinspeksi, Terlambat, Menunggu approval, Selesai, atau NG.</a:t>
            </a:r>
            <a:endParaRPr sz="1500"/>
          </a:p>
        </p:txBody>
      </p:sp>
      <p:sp>
        <p:nvSpPr>
          <p:cNvPr id="14" name="card Filter dan cari">
            <a:extLst xmlns:a="http://schemas.openxmlformats.org/drawingml/2006/main">
              <a:ext uri="{FF2B5EF4-FFF2-40B4-BE49-F238E27FC236}">
                <a16:creationId xmlns:a16="http://schemas.microsoft.com/office/drawing/2014/main" id="{D8836681-F694-4C3F-80B6-95CD8AE3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526280"/>
            <a:ext cx="374904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728C575-65E1-437E-8D96-C8307564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466344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Filter dan cari</a:t>
            </a:r>
            <a:endParaRPr sz="17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0FE9DBE-EAA9-47EB-9D31-FB5B45FD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5166360"/>
            <a:ext cx="329184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5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Saring per status atau cari ID dan lokasi.</a:t>
            </a:r>
            <a:endParaRPr sz="1500"/>
          </a:p>
        </p:txBody>
      </p:sp>
      <p:sp>
        <p:nvSpPr>
          <p:cNvPr id="17" name="card Ketuk baris">
            <a:extLst xmlns:a="http://schemas.openxmlformats.org/drawingml/2006/main">
              <a:ext uri="{FF2B5EF4-FFF2-40B4-BE49-F238E27FC236}">
                <a16:creationId xmlns:a16="http://schemas.microsoft.com/office/drawing/2014/main" id="{660325DD-40A9-4F35-A53E-E3ADE3F5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4526280"/>
            <a:ext cx="3749040" cy="155448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9425E05-BDF8-4E2F-9526-E98FBBA7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66344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Ketuk baris</a:t>
            </a:r>
            <a:endParaRPr sz="17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1D72551-7C93-4A54-9DD1-DEE3F068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166360"/>
            <a:ext cx="329184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5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Langsung membuka scan untuk asset itu.</a:t>
            </a:r>
            <a:endParaRPr sz="15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BE646D2-552E-4A17-83F7-4E26DBA48BC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8341317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1F89EFB-E208-47F2-B61A-03F593992D42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Inspector Plant 1, Plant 2, atau keduanya</a:t>
            </a:r>
            <a:endParaRPr sz="3400"/>
          </a:p>
        </p:txBody>
      </p:sp>
      <p:sp>
        <p:nvSpPr>
          <p:cNvPr id="3" name="card Plant 1">
            <a:extLst xmlns:a="http://schemas.openxmlformats.org/drawingml/2006/main">
              <a:ext uri="{FF2B5EF4-FFF2-40B4-BE49-F238E27FC236}">
                <a16:creationId xmlns:a16="http://schemas.microsoft.com/office/drawing/2014/main" id="{0F90F86E-80A5-4B93-BC2C-DB6F54B0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3520440" cy="30175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05FE621-BB76-422A-A54C-3EF82A0D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Plant 1</a:t>
            </a:r>
            <a:endParaRPr sz="2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4CB7DFD-7944-46AA-A787-8DE0DF30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3063240" cy="2267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20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Anda memeriksa asset Plant 1. Asset Plant 2 tidak dapat diinspeksi.</a:t>
            </a:r>
            <a:endParaRPr sz="2000"/>
          </a:p>
        </p:txBody>
      </p:sp>
      <p:sp>
        <p:nvSpPr>
          <p:cNvPr id="6" name="card Plant 2">
            <a:extLst xmlns:a="http://schemas.openxmlformats.org/drawingml/2006/main">
              <a:ext uri="{FF2B5EF4-FFF2-40B4-BE49-F238E27FC236}">
                <a16:creationId xmlns:a16="http://schemas.microsoft.com/office/drawing/2014/main" id="{DB47691E-DFE7-4D99-A1C3-A9F509E5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554480"/>
            <a:ext cx="3520440" cy="30175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7F513B-CD94-49F6-A684-69441D03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691640"/>
            <a:ext cx="3063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Plant 2</a:t>
            </a:r>
            <a:endParaRPr sz="2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C257619-5C49-47E8-AA47-FAAC92A1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94560"/>
            <a:ext cx="3063240" cy="2267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20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Anda memeriksa asset Plant 2. Asset Plant 1 tidak dapat diinspeksi.</a:t>
            </a:r>
            <a:endParaRPr sz="2000"/>
          </a:p>
        </p:txBody>
      </p:sp>
      <p:sp>
        <p:nvSpPr>
          <p:cNvPr id="9" name="card Plant 1 &amp; Plant 2">
            <a:extLst xmlns:a="http://schemas.openxmlformats.org/drawingml/2006/main">
              <a:ext uri="{FF2B5EF4-FFF2-40B4-BE49-F238E27FC236}">
                <a16:creationId xmlns:a16="http://schemas.microsoft.com/office/drawing/2014/main" id="{D4873710-783E-48D5-80BF-5431AED4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554480"/>
            <a:ext cx="3566160" cy="30175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1E0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96606B4-CF7E-4AA3-9E05-627F8790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Plant 1 &amp; Plant 2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9EAB143-888D-41D9-BF47-A47FE5B1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194560"/>
            <a:ext cx="3108960" cy="2267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Anda dapat memeriksa kedua plant. Gunakan filter Plant di atas halaman, dan Job List dikelompokkan per plant dan area.</a:t>
            </a:r>
            <a:endParaRPr sz="1900"/>
          </a:p>
        </p:txBody>
      </p:sp>
      <p:sp>
        <p:nvSpPr>
          <p:cNvPr id="12" name="card Pesan salah plant?">
            <a:extLst xmlns:a="http://schemas.openxmlformats.org/drawingml/2006/main">
              <a:ext uri="{FF2B5EF4-FFF2-40B4-BE49-F238E27FC236}">
                <a16:creationId xmlns:a16="http://schemas.microsoft.com/office/drawing/2014/main" id="{E878C647-6563-477B-9045-B79CA8BB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00600"/>
            <a:ext cx="11064240" cy="132588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3373C50-FDD8-498E-B779-01EC8068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37760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Pesan salah plant?</a:t>
            </a:r>
            <a:endParaRPr sz="1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2A52F93-3683-4A08-AB5E-38908F3D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607040" cy="576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6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Jika muncul "Asset berada di plant yang tidak diizinkan", asset itu di luar wewenang akun Anda. Hubungi HSE bila seharusnya Anda memegang plant tersebut.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40BCF8-280D-4042-975A-E900C92EC20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098353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16A28A3-BCB9-4BC3-B0CA-E18640686F21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Langkah inspeksi</a:t>
            </a:r>
            <a:endParaRPr sz="3400"/>
          </a:p>
        </p:txBody>
      </p:sp>
      <p:sp>
        <p:nvSpPr>
          <p:cNvPr id="3" name="card Buka Inspeksi">
            <a:extLst xmlns:a="http://schemas.openxmlformats.org/drawingml/2006/main">
              <a:ext uri="{FF2B5EF4-FFF2-40B4-BE49-F238E27FC236}">
                <a16:creationId xmlns:a16="http://schemas.microsoft.com/office/drawing/2014/main" id="{7498A220-EE8F-475D-BDD5-81EAB766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CD0068E-7A4C-4BBF-885B-57975592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916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34BCA59-51AC-4A13-AE36-D4388EE5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916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1</a:t>
            </a:r>
            <a:endParaRPr sz="18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12F506E-A18F-489D-B7BA-791BFAD7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6459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Buka Inspeksi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A5EA634-0B73-4D32-A056-9EAED126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2860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Menu Inspeksi</a:t>
            </a:r>
            <a:endParaRPr sz="1700"/>
          </a:p>
        </p:txBody>
      </p:sp>
      <p:sp>
        <p:nvSpPr>
          <p:cNvPr id="8" name="card Scan QR">
            <a:extLst xmlns:a="http://schemas.openxmlformats.org/drawingml/2006/main">
              <a:ext uri="{FF2B5EF4-FFF2-40B4-BE49-F238E27FC236}">
                <a16:creationId xmlns:a16="http://schemas.microsoft.com/office/drawing/2014/main" id="{4F2331B9-60C4-4C0D-AA32-E9F25414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087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1033E19-EC3B-4AD5-A04F-8CD0564C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6916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521EDA9-54E0-4182-AB69-51998022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6916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2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8100C28-2F7F-45CA-B1AB-63F6B9D1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6459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Scan QR</a:t>
            </a:r>
            <a:endParaRPr sz="1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359D88-11EE-4752-8CD9-27913659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2860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Tekan Scan QR untuk Mulai Inspeksi. Bisa ketik ID manual bila kamera bermasalah.</a:t>
            </a:r>
            <a:endParaRPr sz="1700"/>
          </a:p>
        </p:txBody>
      </p:sp>
      <p:sp>
        <p:nvSpPr>
          <p:cNvPr id="13" name="card Cek QR">
            <a:extLst xmlns:a="http://schemas.openxmlformats.org/drawingml/2006/main">
              <a:ext uri="{FF2B5EF4-FFF2-40B4-BE49-F238E27FC236}">
                <a16:creationId xmlns:a16="http://schemas.microsoft.com/office/drawing/2014/main" id="{4CF5A333-54A0-47FF-99EA-471D3311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5087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EF7202B-7C5B-48FF-99AB-A31224FF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916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6CF2608-CDD6-4FF1-9D22-576ABA99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916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3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63BB2F-E125-44FB-8145-BEDC7645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6459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Cek QR</a:t>
            </a:r>
            <a:endParaRPr sz="19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FF2AEA8-AFCA-4660-BF36-F32C67C0B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2860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Pastikan ID dan lokasi sesuai alat di depan Anda</a:t>
            </a:r>
            <a:endParaRPr sz="1700"/>
          </a:p>
        </p:txBody>
      </p:sp>
      <p:sp>
        <p:nvSpPr>
          <p:cNvPr id="18" name="card Pilih frekuensi">
            <a:extLst xmlns:a="http://schemas.openxmlformats.org/drawingml/2006/main">
              <a:ext uri="{FF2B5EF4-FFF2-40B4-BE49-F238E27FC236}">
                <a16:creationId xmlns:a16="http://schemas.microsoft.com/office/drawing/2014/main" id="{BD0BA4F6-73B3-41DD-B9B1-61F2B38F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5087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5BCE4DE-621B-4BF0-A719-6A73FDF1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6916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916A17F-134A-4FD3-8E7C-35D06D30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6916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4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2ACD3B-0DF9-4BB2-95AF-3B26AB91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6459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Pilih frekuensi</a:t>
            </a:r>
            <a:endParaRPr sz="19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D631C9E-DC9A-4DF0-989C-B9FBAEB9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2860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Misalnya Monthly</a:t>
            </a:r>
            <a:endParaRPr sz="1700"/>
          </a:p>
        </p:txBody>
      </p:sp>
      <p:sp>
        <p:nvSpPr>
          <p:cNvPr id="23" name="card Isi checklist">
            <a:extLst xmlns:a="http://schemas.openxmlformats.org/drawingml/2006/main">
              <a:ext uri="{FF2B5EF4-FFF2-40B4-BE49-F238E27FC236}">
                <a16:creationId xmlns:a16="http://schemas.microsoft.com/office/drawing/2014/main" id="{CC23D26B-3FF1-44B8-92AE-158AD722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233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AA2D2C7-7753-4A93-84C1-FFF4A908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B59D4EE-ABB9-4197-98D3-9F4FF1AC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5</a:t>
            </a:r>
            <a:endParaRPr sz="1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635CD69-0AFA-4FC2-995D-2D2DEE0B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1605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Isi checklist</a:t>
            </a:r>
            <a:endParaRPr sz="19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80789E1-8EC7-4E6A-9DE7-D2595EA7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006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OK / NG / N/A di setiap item</a:t>
            </a:r>
            <a:endParaRPr sz="1700"/>
          </a:p>
        </p:txBody>
      </p:sp>
      <p:sp>
        <p:nvSpPr>
          <p:cNvPr id="28" name="card Foto bukti">
            <a:extLst xmlns:a="http://schemas.openxmlformats.org/drawingml/2006/main">
              <a:ext uri="{FF2B5EF4-FFF2-40B4-BE49-F238E27FC236}">
                <a16:creationId xmlns:a16="http://schemas.microsoft.com/office/drawing/2014/main" id="{AD410AF4-ADCC-48E7-8355-347E485D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233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5C5C8B8-A12C-4F1E-B27F-77DF4433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206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C9E6F73-A6BB-4CF9-96D4-73B111D0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206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6</a:t>
            </a:r>
            <a:endParaRPr sz="1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3424674-EECC-4F9C-BB8A-BD17B390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41605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Foto bukti</a:t>
            </a:r>
            <a:endParaRPr sz="1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7685CE1-5876-4710-AEDC-F619716F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8006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Wajib untuk item bertanda wajib</a:t>
            </a:r>
            <a:endParaRPr sz="1700"/>
          </a:p>
        </p:txBody>
      </p:sp>
      <p:sp>
        <p:nvSpPr>
          <p:cNvPr id="33" name="card Kirim">
            <a:extLst xmlns:a="http://schemas.openxmlformats.org/drawingml/2006/main">
              <a:ext uri="{FF2B5EF4-FFF2-40B4-BE49-F238E27FC236}">
                <a16:creationId xmlns:a16="http://schemas.microsoft.com/office/drawing/2014/main" id="{83F9B344-5DF8-4EBB-A4D0-BF025FBB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0233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A6656-B04F-4AAE-98F6-77A12CA9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624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8CEE701B-2040-4ED6-8FC3-B7D0E966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062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7</a:t>
            </a:r>
            <a:endParaRPr sz="18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03892D1-A512-4CD3-B52E-04808465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160520"/>
            <a:ext cx="1737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Kirim</a:t>
            </a:r>
            <a:endParaRPr sz="19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A6FBA39-317B-4238-9726-1ED8FE30B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800600"/>
            <a:ext cx="2194560" cy="1399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Remark bila perlu, lalu Simpan &amp; Kirim Approval</a:t>
            </a:r>
            <a:endParaRPr sz="1700"/>
          </a:p>
        </p:txBody>
      </p:sp>
      <p:sp>
        <p:nvSpPr>
          <p:cNvPr id="38" name="card Tips">
            <a:extLst xmlns:a="http://schemas.openxmlformats.org/drawingml/2006/main">
              <a:ext uri="{FF2B5EF4-FFF2-40B4-BE49-F238E27FC236}">
                <a16:creationId xmlns:a16="http://schemas.microsoft.com/office/drawing/2014/main" id="{6EDBB12C-417D-4613-B237-7206C7FC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23360"/>
            <a:ext cx="2651760" cy="2286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1E0"/>
          </a:solidFill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5B9BC9E-E849-4DFC-9708-4692E4EF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4160520"/>
            <a:ext cx="2194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Tips</a:t>
            </a:r>
            <a:endParaRPr sz="18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C13A212-DCBA-423F-8203-58E7CDE1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4663440"/>
            <a:ext cx="219456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5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Mulai di awal jendela tanggal 1–5. Jangan menunggu tanggal 5.</a:t>
            </a:r>
            <a:endParaRPr sz="15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7766E99-0E3C-45F7-9E03-BFF273324C5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802559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BB35C61-7FF2-4B3C-838F-F17D051F7A54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Menjawab checklist dan foto bukti</a:t>
            </a:r>
            <a:endParaRPr sz="3400"/>
          </a:p>
        </p:txBody>
      </p:sp>
      <p:sp>
        <p:nvSpPr>
          <p:cNvPr id="3" name="card OK">
            <a:extLst xmlns:a="http://schemas.openxmlformats.org/drawingml/2006/main">
              <a:ext uri="{FF2B5EF4-FFF2-40B4-BE49-F238E27FC236}">
                <a16:creationId xmlns:a16="http://schemas.microsoft.com/office/drawing/2014/main" id="{1C7600E0-0CD2-4BDE-A027-7192BCA1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3566160" cy="201168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3F6EA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FAE10E7-9D8D-471B-9C9C-A1ECCD23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accent3"/>
                </a:solidFill>
                <a:latin typeface="Calibri"/>
                <a:ea typeface="Calibri"/>
                <a:cs typeface="Calibri"/>
              </a:rPr>
              <a:t>OK</a:t>
            </a:r>
            <a:endParaRPr sz="3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9763BDF-4EA1-427C-BFD9-340E308F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31089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Item sesuai standar.</a:t>
            </a:r>
            <a:endParaRPr sz="1800"/>
          </a:p>
        </p:txBody>
      </p:sp>
      <p:sp>
        <p:nvSpPr>
          <p:cNvPr id="6" name="card NG">
            <a:extLst xmlns:a="http://schemas.openxmlformats.org/drawingml/2006/main">
              <a:ext uri="{FF2B5EF4-FFF2-40B4-BE49-F238E27FC236}">
                <a16:creationId xmlns:a16="http://schemas.microsoft.com/office/drawing/2014/main" id="{134C94A0-6003-4D0B-9332-B4017FC6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554480"/>
            <a:ext cx="3566160" cy="201168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DEAEA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A52928E-6135-4ADC-97C1-A9BCBF26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accent4"/>
                </a:solidFill>
                <a:latin typeface="Calibri"/>
                <a:ea typeface="Calibri"/>
                <a:cs typeface="Calibri"/>
              </a:rPr>
              <a:t>NG</a:t>
            </a:r>
            <a:endParaRPr sz="3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8767A19-D727-40DB-972E-85E853CB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94560"/>
            <a:ext cx="31089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6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Item tidak sesuai: rusak, hilang, terhalang, tekanan tidak normal. Jelaskan di Remark dan sertakan foto.</a:t>
            </a:r>
            <a:endParaRPr sz="1600"/>
          </a:p>
        </p:txBody>
      </p:sp>
      <p:sp>
        <p:nvSpPr>
          <p:cNvPr id="9" name="card N/A">
            <a:extLst xmlns:a="http://schemas.openxmlformats.org/drawingml/2006/main">
              <a:ext uri="{FF2B5EF4-FFF2-40B4-BE49-F238E27FC236}">
                <a16:creationId xmlns:a16="http://schemas.microsoft.com/office/drawing/2014/main" id="{A8E70E69-AE8C-42F1-8491-74BB59B8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554480"/>
            <a:ext cx="3566160" cy="201168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3869279-F4F0-4F8F-8D14-8675B043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N/A</a:t>
            </a:r>
            <a:endParaRPr sz="3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352A3CF-A203-497C-8037-E7307F34A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194560"/>
            <a:ext cx="31089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Item tidak berlaku untuk alat ini.</a:t>
            </a:r>
            <a:endParaRPr sz="1800"/>
          </a:p>
        </p:txBody>
      </p:sp>
      <p:sp>
        <p:nvSpPr>
          <p:cNvPr id="12" name="card Foto bukti">
            <a:extLst xmlns:a="http://schemas.openxmlformats.org/drawingml/2006/main">
              <a:ext uri="{FF2B5EF4-FFF2-40B4-BE49-F238E27FC236}">
                <a16:creationId xmlns:a16="http://schemas.microsoft.com/office/drawing/2014/main" id="{3E753912-C1C3-4286-B14E-0927C68D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5440680" cy="233172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6EC638F-F431-4BB7-80E8-8D60EC17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3192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Foto bukti</a:t>
            </a:r>
            <a:endParaRPr sz="2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702A075-25D6-4BBC-BF4C-12B07C62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34840"/>
            <a:ext cx="3333750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Item Bukti foto wajib harus ada fotonya</a:t>
            </a:r>
            <a:endParaRPr sz="17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Cahaya cukup, objek jelas, tidak buram</a:t>
            </a:r>
            <a:endParaRPr sz="17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Gauge terbaca, segel dan pin terlihat, label dan tanggal terbaca</a:t>
            </a:r>
            <a:endParaRPr sz="1700"/>
          </a:p>
        </p:txBody>
      </p:sp>
      <p:sp>
        <p:nvSpPr>
          <p:cNvPr id="15" name="card Muncul &quot;Belum lengkap: item …&quot;">
            <a:extLst xmlns:a="http://schemas.openxmlformats.org/drawingml/2006/main">
              <a:ext uri="{FF2B5EF4-FFF2-40B4-BE49-F238E27FC236}">
                <a16:creationId xmlns:a16="http://schemas.microsoft.com/office/drawing/2014/main" id="{BBF87EA7-CD91-4923-B3C9-70B53B06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94760"/>
            <a:ext cx="5440680" cy="233172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093F9C7-8663-44B1-BDB7-7CAB21B0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3192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Muncul "Belum lengkap: item …"</a:t>
            </a:r>
            <a:endParaRPr sz="2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BE71BBC-6132-4B52-8B83-2C4958BD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4983480" cy="1581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Semua item harus dijawab dan semua foto wajib terlampir</a:t>
            </a:r>
            <a:endParaRPr sz="17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Lengkapi item yang disebut, lalu simpan lagi</a:t>
            </a:r>
            <a:endParaRPr sz="17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Salah scan? Tekan Reset dan scan ulang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DE2B4E8-B6AF-4AC8-BD05-22162E4DB59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EB6738-0586-4424-81E2-5D3BA5C946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9b9d30d444d57"/>
          <a:stretch xmlns:a="http://schemas.openxmlformats.org/drawingml/2006/main"/>
        </p:blipFill>
        <p:spPr>
          <a:xfrm xmlns:a="http://schemas.openxmlformats.org/drawingml/2006/main">
            <a:off x="4232098" y="4457700"/>
            <a:ext cx="1575154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67204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53FBA15-ED95-4ACE-9BD0-2FE3BCCE3B28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Jika ada item NG</a:t>
            </a:r>
            <a:endParaRPr sz="3400"/>
          </a:p>
        </p:txBody>
      </p:sp>
      <p:sp>
        <p:nvSpPr>
          <p:cNvPr id="3" name="card Status asset">
            <a:extLst xmlns:a="http://schemas.openxmlformats.org/drawingml/2006/main">
              <a:ext uri="{FF2B5EF4-FFF2-40B4-BE49-F238E27FC236}">
                <a16:creationId xmlns:a16="http://schemas.microsoft.com/office/drawing/2014/main" id="{5005B20C-1F48-4A36-ADF3-F2482A24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3566160" cy="1600200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DEAEA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FE5017B-28CF-4849-9994-EFBE3F61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Status asset</a:t>
            </a:r>
            <a:endParaRPr sz="21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334C0C-B30B-4726-A397-802A0B47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310896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berubah menjadi NG</a:t>
            </a:r>
            <a:endParaRPr sz="1800"/>
          </a:p>
        </p:txBody>
      </p:sp>
      <p:sp>
        <p:nvSpPr>
          <p:cNvPr id="6" name="card Finding otomatis">
            <a:extLst xmlns:a="http://schemas.openxmlformats.org/drawingml/2006/main">
              <a:ext uri="{FF2B5EF4-FFF2-40B4-BE49-F238E27FC236}">
                <a16:creationId xmlns:a16="http://schemas.microsoft.com/office/drawing/2014/main" id="{09947438-EBD2-4DE9-A92D-54BAFC86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554480"/>
            <a:ext cx="3566160" cy="1600200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DEAEA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9E9A730-826F-4739-92D2-6FD1470C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Finding otomatis</a:t>
            </a:r>
            <a:endParaRPr sz="21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0876F2B-173A-49CA-9D51-118D69DA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194560"/>
            <a:ext cx="310896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dibuat dengan tingkat High, lengkap dengan foto Anda</a:t>
            </a:r>
            <a:endParaRPr sz="1800"/>
          </a:p>
        </p:txBody>
      </p:sp>
      <p:sp>
        <p:nvSpPr>
          <p:cNvPr id="9" name="card Masuk ke Admin">
            <a:extLst xmlns:a="http://schemas.openxmlformats.org/drawingml/2006/main">
              <a:ext uri="{FF2B5EF4-FFF2-40B4-BE49-F238E27FC236}">
                <a16:creationId xmlns:a16="http://schemas.microsoft.com/office/drawing/2014/main" id="{5A390DA0-5CE2-49F7-BE26-82F2AC8F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554480"/>
            <a:ext cx="3566160" cy="1600200"/>
          </a:xfrm>
          <a:prstGeom xmlns:a="http://schemas.openxmlformats.org/drawingml/2006/main" prst="roundRect">
            <a:avLst>
              <a:gd name="adj" fmla="val 6857"/>
            </a:avLst>
          </a:prstGeom>
          <a:solidFill xmlns:a="http://schemas.openxmlformats.org/drawingml/2006/main">
            <a:srgbClr val="FDEAEA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FB6888D-5869-477B-B423-9336CA551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691640"/>
            <a:ext cx="3108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Masuk ke Admin</a:t>
            </a:r>
            <a:endParaRPr sz="2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703E32-FB99-47E7-8350-FE03D11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194560"/>
            <a:ext cx="310896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untuk diperiksa dan ditindaklanjuti</a:t>
            </a:r>
            <a:endParaRPr sz="1800"/>
          </a:p>
        </p:txBody>
      </p:sp>
      <p:sp>
        <p:nvSpPr>
          <p:cNvPr id="12" name="card Yang perlu Anda lakukan">
            <a:extLst xmlns:a="http://schemas.openxmlformats.org/drawingml/2006/main">
              <a:ext uri="{FF2B5EF4-FFF2-40B4-BE49-F238E27FC236}">
                <a16:creationId xmlns:a16="http://schemas.microsoft.com/office/drawing/2014/main" id="{A41BA235-1DE9-4930-954C-C060C966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83280"/>
            <a:ext cx="5486400" cy="27432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5D7F9FF-ABEA-4360-BF92-CCA565B1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Yang perlu Anda lakukan</a:t>
            </a:r>
            <a:endParaRPr sz="2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89CBDDD-0476-4B92-B620-35C6DDF2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5029200" cy="1993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Remark dan foto yang jelas</a:t>
            </a:r>
            <a:endParaRPr sz="17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Laporkan langsung ke HSE untuk kondisi berbahaya (APAR bocor, hydrant tidak berfungsi)</a:t>
            </a:r>
            <a:endParaRPr sz="17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Inspeksi ulang tabung pengganti lewat QR di tabung itu sendiri</a:t>
            </a:r>
            <a:endParaRPr sz="1700"/>
          </a:p>
        </p:txBody>
      </p:sp>
      <p:sp>
        <p:nvSpPr>
          <p:cNvPr id="15" name="card Jangan tukar tabung sendiri">
            <a:extLst xmlns:a="http://schemas.openxmlformats.org/drawingml/2006/main">
              <a:ext uri="{FF2B5EF4-FFF2-40B4-BE49-F238E27FC236}">
                <a16:creationId xmlns:a16="http://schemas.microsoft.com/office/drawing/2014/main" id="{946A203D-6E9C-42A3-A777-477755C0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383280"/>
            <a:ext cx="5394960" cy="27432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9EECDC4-2665-472C-A7AE-8358CE62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520440"/>
            <a:ext cx="49377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Jangan tukar tabung sendiri</a:t>
            </a:r>
            <a:endParaRPr sz="2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E349665-CF77-4A23-B551-08B858A5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023360"/>
            <a:ext cx="3143250" cy="1993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8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Penggantian dengan spare dilakukan Admin lewat sistem, supaya lokasi, QR, dan riwayat tetap sinkron. Selalu scan QR pada tabung yang benar-benar Anda periksa.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02825C6-C0D7-4E58-BB07-6CD58AC14A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E7CAFA-3BE5-4661-9D2C-0428FE1444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0b37556f2d4cb1"/>
          <a:stretch xmlns:a="http://schemas.openxmlformats.org/drawingml/2006/main"/>
        </p:blipFill>
        <p:spPr>
          <a:xfrm xmlns:a="http://schemas.openxmlformats.org/drawingml/2006/main">
            <a:off x="9742528" y="4362450"/>
            <a:ext cx="1603295" cy="1581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46533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DFD7A0-F5D6-47FF-B9A0-7510D8CF1466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Jadwal inspeksi rutin</a:t>
            </a:r>
            <a:endParaRPr sz="34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F1EA4AC-FF38-49AF-BFDB-8B8D8581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3108960" cy="292608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473AD9F-01AD-4A2C-9521-8B33E6FE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31089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2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1–5</a:t>
            </a:r>
            <a:endParaRPr sz="7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826451A-CF26-4057-8866-BCAFB2B2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08960"/>
            <a:ext cx="265176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jendela inspeksi tiap bulan, batas akhir tanggal 5</a:t>
            </a:r>
            <a:endParaRPr sz="1700"/>
          </a:p>
        </p:txBody>
      </p:sp>
      <p:graphicFrame>
        <p:nvGraphicFramePr>
          <p:cNvPr id="13" name="Table 0">
            <a:extLst xmlns:a="http://schemas.openxmlformats.org/drawingml/2006/main">
              <a:ext uri="{FF2B5EF4-FFF2-40B4-BE49-F238E27FC236}">
                <a16:creationId xmlns:a16="http://schemas.microsoft.com/office/drawing/2014/main" id="{32ED2336-0FD5-40D6-86A4-C5C53566EB80}"/>
              </a:ext>
            </a:extLst>
          </p:cNvPr>
          <p:cNvGraphicFramePr/>
          <p:nvPr/>
        </p:nvGraphicFramePr>
        <p:xfrm>
          <a:off xmlns:a="http://schemas.openxmlformats.org/drawingml/2006/main" x="3931920" y="1554480"/>
          <a:ext xmlns:a="http://schemas.openxmlformats.org/drawingml/2006/main" cx="76809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60320"/>
                <a:gridCol w="512064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Arti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Belum dibuka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Jendela bulan ini belum mulai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Perlu diinspeksi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Dalam jendela 1–5, lakukan inspeksi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Menunggu approval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Sudah dikirim, tidak dianggap terlambat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Selesai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Disetujui dalam jendela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Selesai (terlambat)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Disetujui, tetapi setelah tanggal 5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Terlambat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Lewat tanggal 5 dan belum ada inspeksi sah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card Perlu diingat">
            <a:extLst xmlns:a="http://schemas.openxmlformats.org/drawingml/2006/main">
              <a:ext uri="{FF2B5EF4-FFF2-40B4-BE49-F238E27FC236}">
                <a16:creationId xmlns:a16="http://schemas.microsoft.com/office/drawing/2014/main" id="{A450D6FD-B1A6-45E2-813D-42CEB270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74920"/>
            <a:ext cx="11064240" cy="118872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5780CF-7F53-4CD7-97D1-11A31DB9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12080"/>
            <a:ext cx="10607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Perlu diingat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1529CB-983A-4592-8755-C97BC6AE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715000"/>
            <a:ext cx="1060704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5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Inspeksi yang ditolak (Reject) tidak dihitung dan harus diulang. Inspeksi sebelum tanggal 1 tidak dihitung untuk bulan itu. Mulai di awal jendela agar ada waktu mengulang.</a:t>
            </a:r>
            <a:endParaRPr sz="15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B770E09-49BA-4538-A06D-ABB7ACB554C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301540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2D0228-3C41-4C23-8E57-CAE4E11E4366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Approval dan status asset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D2AF935-E86A-4B3E-B4AE-23B425BD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394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Hasil inspeksi Anda</a:t>
            </a:r>
            <a:endParaRPr sz="2000"/>
          </a:p>
        </p:txBody>
      </p:sp>
      <p:graphicFrame>
        <p:nvGraphicFramePr>
          <p:cNvPr id="14" name="Table 0">
            <a:extLst xmlns:a="http://schemas.openxmlformats.org/drawingml/2006/main">
              <a:ext uri="{FF2B5EF4-FFF2-40B4-BE49-F238E27FC236}">
                <a16:creationId xmlns:a16="http://schemas.microsoft.com/office/drawing/2014/main" id="{D760165F-21FC-4736-BF1B-EDB7AE9E3364}"/>
              </a:ext>
            </a:extLst>
          </p:cNvPr>
          <p:cNvGraphicFramePr/>
          <p:nvPr/>
        </p:nvGraphicFramePr>
        <p:xfrm>
          <a:off xmlns:a="http://schemas.openxmlformats.org/drawingml/2006/main" x="548640" y="1920240"/>
          <a:ext xmlns:a="http://schemas.openxmlformats.org/drawingml/2006/main" cx="539496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37360"/>
                <a:gridCol w="3657600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Hasil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Artinya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PENDING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Menunggu pemeriksaan Admin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accent3"/>
                          </a:solidFill>
                          <a:latin typeface="Calibri"/>
                          <a:ea typeface="Calibri"/>
                          <a:cs typeface="Calibri"/>
                        </a:rPr>
                        <a:t>APPROVED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Disetujui dan dihitung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REJECTED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Ditolak. Baca catatan Admin di Riwayat, lalu ulangi inspeksi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177058A-1FE3-47BE-930A-170F87EA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5303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Status asset</a:t>
            </a:r>
            <a:endParaRPr sz="2000"/>
          </a:p>
        </p:txBody>
      </p:sp>
      <p:graphicFrame>
        <p:nvGraphicFramePr>
          <p:cNvPr id="27" name="Table 1">
            <a:extLst xmlns:a="http://schemas.openxmlformats.org/drawingml/2006/main">
              <a:ext uri="{FF2B5EF4-FFF2-40B4-BE49-F238E27FC236}">
                <a16:creationId xmlns:a16="http://schemas.microsoft.com/office/drawing/2014/main" id="{5DA8EE25-AE38-4A99-ABF2-6092C24EFE84}"/>
              </a:ext>
            </a:extLst>
          </p:cNvPr>
          <p:cNvGraphicFramePr/>
          <p:nvPr/>
        </p:nvGraphicFramePr>
        <p:xfrm>
          <a:off xmlns:a="http://schemas.openxmlformats.org/drawingml/2006/main" x="6309360" y="1920240"/>
          <a:ext xmlns:a="http://schemas.openxmlformats.org/drawingml/2006/main" cx="530352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11680"/>
                <a:gridCol w="3291840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Arti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NORMAL - USE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Terpasang dan baik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NORMAL - SPARE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Cadangan di gudang, siap pakai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NG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Tidak layak, perlu tindakan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Due Soon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Next Due kurang dari 30 hari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accent4"/>
                          </a:solidFill>
                          <a:latin typeface="Calibri"/>
                          <a:ea typeface="Calibri"/>
                          <a:cs typeface="Calibri"/>
                        </a:rPr>
                        <a:t>Expired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Next Due lewat. Laporkan ke HSE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22653744-3E92-4A70-9F3B-973FFECC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9496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chemeClr val="accent6"/>
                </a:solidFill>
                <a:latin typeface="Calibri"/>
                <a:ea typeface="Calibri"/>
                <a:cs typeface="Calibri"/>
              </a:rPr>
              <a:t>Status asset diatur sistem dan Admin. Inspector tidak mengubahnya langsung, kecuali lewat hasil inspeksi (NG).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A09D9FF-7DC4-4031-B3C4-0EE3A2F2FC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491128-A3AA-40C5-BE6D-0F97F194DB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e3669d8094612"/>
          <a:stretch xmlns:a="http://schemas.openxmlformats.org/drawingml/2006/main"/>
        </p:blipFill>
        <p:spPr>
          <a:xfrm xmlns:a="http://schemas.openxmlformats.org/drawingml/2006/main">
            <a:off x="3057739" y="4095750"/>
            <a:ext cx="1314021" cy="1181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85896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D8547D-D8E0-4061-B74A-8A4DD47B33F7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Riwayat</a:t>
            </a:r>
            <a:endParaRPr sz="3400"/>
          </a:p>
        </p:txBody>
      </p:sp>
      <p:sp>
        <p:nvSpPr>
          <p:cNvPr id="3" name="Halaman Riwayat frame">
            <a:extLst xmlns:a="http://schemas.openxmlformats.org/drawingml/2006/main">
              <a:ext uri="{FF2B5EF4-FFF2-40B4-BE49-F238E27FC236}">
                <a16:creationId xmlns:a16="http://schemas.microsoft.com/office/drawing/2014/main" id="{BA98DFD9-807C-451D-8C84-47DD6BB1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261872"/>
            <a:ext cx="2416616" cy="4974336"/>
          </a:xfrm>
          <a:prstGeom xmlns:a="http://schemas.openxmlformats.org/drawingml/2006/main" prst="roundRect">
            <a:avLst>
              <a:gd name="adj" fmla="val 8324"/>
            </a:avLst>
          </a:prstGeom>
          <a:solidFill xmlns:a="http://schemas.openxmlformats.org/drawingml/2006/main">
            <a:schemeClr val="tx2"/>
          </a:solidFill>
        </p:spPr>
      </p:sp>
      <p:pic>
        <p:nvPicPr>
          <p:cNvPr id="4" name="Halaman Riwayat">
            <a:extLst xmlns:a="http://schemas.openxmlformats.org/drawingml/2006/main">
              <a:ext uri="{FF2B5EF4-FFF2-40B4-BE49-F238E27FC236}">
                <a16:creationId xmlns:a16="http://schemas.microsoft.com/office/drawing/2014/main" id="{27174642-2E0C-4252-A55F-C2B53E9875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0782b966742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" y="1371600"/>
            <a:ext cx="2197160" cy="4754880"/>
          </a:xfrm>
          <a:prstGeom xmlns:a="http://schemas.openxmlformats.org/drawingml/2006/main" prst="rect">
            <a:avLst/>
          </a:prstGeom>
        </p:spPr>
      </p:pic>
      <p:sp>
        <p:nvSpPr>
          <p:cNvPr id="5" name="card Tab Inspeksi &amp; Approval">
            <a:extLst xmlns:a="http://schemas.openxmlformats.org/drawingml/2006/main">
              <a:ext uri="{FF2B5EF4-FFF2-40B4-BE49-F238E27FC236}">
                <a16:creationId xmlns:a16="http://schemas.microsoft.com/office/drawing/2014/main" id="{6348AC90-092D-447C-9632-106320F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1554480"/>
            <a:ext cx="3749040" cy="210312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F956F57-54A0-47EA-8144-F0CAF9F7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69164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Tab Inspeksi &amp; Approval</a:t>
            </a:r>
            <a:endParaRPr sz="19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2A96F97-3B44-44AF-A647-3FC34B8D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194560"/>
            <a:ext cx="329184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Tanggal, asset, hasil PASS/FAIL, status approval, dan catatan Admin. Ketuk baris untuk detail dan foto.</a:t>
            </a:r>
            <a:endParaRPr sz="1700"/>
          </a:p>
        </p:txBody>
      </p:sp>
      <p:sp>
        <p:nvSpPr>
          <p:cNvPr id="8" name="card Tab Finding">
            <a:extLst xmlns:a="http://schemas.openxmlformats.org/drawingml/2006/main">
              <a:ext uri="{FF2B5EF4-FFF2-40B4-BE49-F238E27FC236}">
                <a16:creationId xmlns:a16="http://schemas.microsoft.com/office/drawing/2014/main" id="{3D453D32-98A1-4E76-B4B5-E4FA0C50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554480"/>
            <a:ext cx="3749040" cy="210312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D07B2-0119-4132-A63B-B3C92202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69164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Tab Finding</a:t>
            </a:r>
            <a:endParaRPr sz="19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85F7632-340A-4DE6-A00E-464E98E1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194560"/>
            <a:ext cx="329184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Temuan dan status OPEN, IN PROGRESS, CLOSED beserta tindakan perbaikan.</a:t>
            </a:r>
            <a:endParaRPr sz="1700"/>
          </a:p>
        </p:txBody>
      </p:sp>
      <p:sp>
        <p:nvSpPr>
          <p:cNvPr id="11" name="card Cari dan saring">
            <a:extLst xmlns:a="http://schemas.openxmlformats.org/drawingml/2006/main">
              <a:ext uri="{FF2B5EF4-FFF2-40B4-BE49-F238E27FC236}">
                <a16:creationId xmlns:a16="http://schemas.microsoft.com/office/drawing/2014/main" id="{DAFB20C8-D3F2-41BD-8E8C-8C37E508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3840480"/>
            <a:ext cx="3749040" cy="210312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F01BB45-4080-4A63-9628-DB7D04D3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97764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Cari dan saring</a:t>
            </a:r>
            <a:endParaRPr sz="1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B4E82E5-DF26-4B7D-986A-60D459AB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4480560"/>
            <a:ext cx="329184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Pencarian, rentang tanggal, filter approval dan hasil.</a:t>
            </a:r>
            <a:endParaRPr sz="1700"/>
          </a:p>
        </p:txBody>
      </p:sp>
      <p:sp>
        <p:nvSpPr>
          <p:cNvPr id="14" name="card Mode lihat saja">
            <a:extLst xmlns:a="http://schemas.openxmlformats.org/drawingml/2006/main">
              <a:ext uri="{FF2B5EF4-FFF2-40B4-BE49-F238E27FC236}">
                <a16:creationId xmlns:a16="http://schemas.microsoft.com/office/drawing/2014/main" id="{CBB3FFAA-0528-4500-B163-5978076F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3840480"/>
            <a:ext cx="3749040" cy="210312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5C7AECE-0264-4C4A-BBC4-30B31602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977640"/>
            <a:ext cx="3291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Mode lihat saja</a:t>
            </a:r>
            <a:endParaRPr sz="19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78C9852-31E1-4D5F-AEAF-F2EF995C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480560"/>
            <a:ext cx="329184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500"/>
              </a:spcAft>
              <a:buNone/>
            </a:pPr>
            <a:r>
              <a:rPr sz="17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Anda tidak dapat mengubah, menghapus, atau mengekspor data.</a:t>
            </a:r>
            <a:endParaRPr sz="17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D056400-4C4A-4003-878F-F3B3541EB10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292112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CC68A0C-D7DF-447D-986F-B4A47CF5E4E5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Tips foto dan keselamatan</a:t>
            </a:r>
            <a:endParaRPr sz="3400"/>
          </a:p>
        </p:txBody>
      </p:sp>
      <p:sp>
        <p:nvSpPr>
          <p:cNvPr id="3" name="card Foto bukti">
            <a:extLst xmlns:a="http://schemas.openxmlformats.org/drawingml/2006/main">
              <a:ext uri="{FF2B5EF4-FFF2-40B4-BE49-F238E27FC236}">
                <a16:creationId xmlns:a16="http://schemas.microsoft.com/office/drawing/2014/main" id="{546AA60C-D345-4CC2-97D9-00F31088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5440680" cy="452628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chemeClr val="bg2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AA7E55B-ED9D-42BC-AED1-CD4709CC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69164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Foto bukti</a:t>
            </a:r>
            <a:endParaRPr sz="2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B2F7AA-FAEA-4A96-BB22-15A316B8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194560"/>
            <a:ext cx="4983480" cy="3776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Foto diperkecil otomatis, tidak perlu ubah resolusi kamera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Pencahayaan cukup, alat terlihat jelas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Dekat dan fokus pada bagian yang dinilai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Ambil saat inspeksi, bukan foto lama</a:t>
            </a:r>
            <a:endParaRPr sz="1900"/>
          </a:p>
        </p:txBody>
      </p:sp>
      <p:sp>
        <p:nvSpPr>
          <p:cNvPr id="6" name="card Keselamatan">
            <a:extLst xmlns:a="http://schemas.openxmlformats.org/drawingml/2006/main">
              <a:ext uri="{FF2B5EF4-FFF2-40B4-BE49-F238E27FC236}">
                <a16:creationId xmlns:a16="http://schemas.microsoft.com/office/drawing/2014/main" id="{3FC3283D-DB50-449E-8147-B1D536AC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554480"/>
            <a:ext cx="5440680" cy="452628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6E0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6926E96-CE10-4519-988F-F06DA09A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91640"/>
            <a:ext cx="4983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Keselamatan</a:t>
            </a:r>
            <a:endParaRPr sz="2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1F41395-7418-4F81-BCDB-0693649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4560"/>
            <a:ext cx="4983480" cy="3776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Jangan abaikan kondisi tidak aman demi mengejar tanggal; laporkan ke HSE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Jangan angkat tabung berat sendirian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Jangan tekan tuas, buka segel, atau uji semprot saat inspeksi visual</a:t>
            </a:r>
            <a:endParaRPr sz="1900"/>
          </a:p>
          <a:p xmlns:a="http://schemas.openxmlformats.org/drawingml/2006/main">
            <a:pPr marL="342900" indent="-342900">
              <a:spcAft>
                <a:spcPts val="500"/>
              </a:spcAft>
              <a:buSzPct val="100000"/>
              <a:buChar char="•"/>
            </a:pPr>
            <a:r>
              <a:rPr sz="19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Waspadai forklift dan area kerja saat memegang HP</a:t>
            </a:r>
            <a:endParaRPr sz="1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DBDF67B-52F0-46C4-A90F-ADCA209D9FC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33EE20-2093-4105-A810-22E280FF01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09de3a58e46d6"/>
          <a:stretch xmlns:a="http://schemas.openxmlformats.org/drawingml/2006/main"/>
        </p:blipFill>
        <p:spPr>
          <a:xfrm xmlns:a="http://schemas.openxmlformats.org/drawingml/2006/main">
            <a:off x="9863124" y="4857750"/>
            <a:ext cx="1133501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45262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2BCBE4-5961-4EB6-BED1-4519F69BCDDB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642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400" b="1">
                <a:solidFill>
                  <a:schemeClr val="tx2"/>
                </a:solidFill>
                <a:latin typeface="Calibri"/>
                <a:ea typeface="Calibri"/>
                <a:cs typeface="Calibri"/>
              </a:rPr>
              <a:t>Pemecahan masalah</a:t>
            </a:r>
            <a:endParaRPr sz="3400"/>
          </a:p>
        </p:txBody>
      </p:sp>
      <p:graphicFrame>
        <p:nvGraphicFramePr>
          <p:cNvPr id="17" name="Table 0">
            <a:extLst xmlns:a="http://schemas.openxmlformats.org/drawingml/2006/main">
              <a:ext uri="{FF2B5EF4-FFF2-40B4-BE49-F238E27FC236}">
                <a16:creationId xmlns:a16="http://schemas.microsoft.com/office/drawing/2014/main" id="{D771C0B9-19B1-4399-8FCB-C6688F2ED238}"/>
              </a:ext>
            </a:extLst>
          </p:cNvPr>
          <p:cNvGraphicFramePr/>
          <p:nvPr/>
        </p:nvGraphicFramePr>
        <p:xfrm>
          <a:off xmlns:a="http://schemas.openxmlformats.org/drawingml/2006/main" x="548640" y="1463040"/>
          <a:ext xmlns:a="http://schemas.openxmlformats.org/drawingml/2006/main" cx="1106424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Masalah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Yang dilakukan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Kamera tidak muncul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Ikon gembok di kolom alamat → izinkan Kamera → muat ulang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QR tidak terbaca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Bersihkan QR, jarak 15–25 cm, hindari silau; atau ketik ID manual dan lapor HSE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QR tidak dikenali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Laporkan ke HSE dengan lokasi dan foto QR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Username atau password salah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Ketuk ikon mata, cek Caps Lock; atau Lupa password?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Gagal menyimpan / Gagal sinkron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Cari sinyal lebih baik; jangan tutup halaman, sistem mencoba lagi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Checklist tidak mau tersimpan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Lengkapi item atau foto wajib yang disebut pesan merah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 b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Tampilan tidak berubah setelah pembaruan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Tutup dan buka lagi, atau muat ulang paksa</a:t>
                      </a:r>
                      <a:endParaRPr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cmpd="sng">
                      <a:solidFill>
                        <a:srgbClr val="D5DEE8"/>
                      </a:solidFill>
                      <a:prstDash val="solid"/>
                    </a:lnL>
                    <a:lnR w="9525" cmpd="sng">
                      <a:solidFill>
                        <a:srgbClr val="D5DEE8"/>
                      </a:solidFill>
                      <a:prstDash val="solid"/>
                    </a:lnR>
                    <a:lnT w="9525" cmpd="sng">
                      <a:solidFill>
                        <a:srgbClr val="D5DEE8"/>
                      </a:solidFill>
                      <a:prstDash val="solid"/>
                    </a:lnT>
                    <a:lnB w="9525" cmpd="sng">
                      <a:solidFill>
                        <a:srgbClr val="D5DE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3643FC3-C9AF-4931-8192-06EE1A5E494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00800"/>
            <a:ext cx="54864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560824-9539-49F4-B438-20DB9C0A5E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b3341f9a74b9f"/>
          <a:stretch xmlns:a="http://schemas.openxmlformats.org/drawingml/2006/main"/>
        </p:blipFill>
        <p:spPr>
          <a:xfrm xmlns:a="http://schemas.openxmlformats.org/drawingml/2006/main">
            <a:off x="10287000" y="171450"/>
            <a:ext cx="1257300" cy="1257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4040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5A82F30-DA45-4428-92B4-7465FF19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7315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 b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Kartu ingat cepat</a:t>
            </a:r>
            <a:endParaRPr sz="38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C80DE3C-FF8D-45EC-BC8C-15416A7D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2377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Sebelum</a:t>
            </a:r>
            <a:endParaRPr sz="2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25AAFF2-A7DF-4798-80FA-D373E7BC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50876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Login → pastikan sinyal baik → buka Inspeksi atau Job List</a:t>
            </a:r>
            <a:endParaRPr sz="1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7018C7A-D021-4491-A715-66BCACEE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2377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Saat inspeksi</a:t>
            </a:r>
            <a:endParaRPr sz="2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778B798-4674-4D9E-BA75-4D127EA2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37744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Scan QR di alat → jawab semua item → foto bukti → kirim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9A0A773-1C2B-4686-ABF1-11124BD4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46120"/>
            <a:ext cx="2377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Jika NG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468113F-290A-451C-931C-4754CB8B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4612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Foto dan Remark jelas, lapor HSE, jangan tukar tabung sendiri</a:t>
            </a:r>
            <a:endParaRPr sz="19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C5FC9D9-DC36-4F5E-BD37-AF5D226A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14800"/>
            <a:ext cx="2377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Batas APAR</a:t>
            </a:r>
            <a:endParaRPr sz="2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0E1DA09-D778-4FCC-BFAE-58E0D824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1480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Tanggal 5 setiap bulan, mulai dari tanggal 1</a:t>
            </a:r>
            <a:endParaRPr sz="19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7E06051-B4D4-48DB-A254-BD8D687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2377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Password</a:t>
            </a:r>
            <a:endParaRPr sz="2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6375522-D2AC-4AB1-B21C-E6CE0901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983480"/>
            <a:ext cx="8229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Milik Anda sendiri, jangan dibagikan</a:t>
            </a:r>
            <a:endParaRPr sz="1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7C8361-48B8-4A78-9B99-DDAB3BC6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035040"/>
            <a:ext cx="10698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bg2"/>
                </a:solidFill>
                <a:latin typeface="Calibri"/>
                <a:ea typeface="Calibri"/>
                <a:cs typeface="Calibri"/>
              </a:rPr>
              <a:t>Bantuan akun, QR rusak, atau kondisi berbahaya: hubungi Departemen HSE PT TJ Forge Indonesia.</a:t>
            </a:r>
            <a:endParaRPr sz="1600"/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357C9-EEF9-4E35-AD0A-2EDA576533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526a756ef4e9b"/>
          <a:stretch xmlns:a="http://schemas.openxmlformats.org/drawingml/2006/main"/>
        </p:blipFill>
        <p:spPr>
          <a:xfrm xmlns:a="http://schemas.openxmlformats.org/drawingml/2006/main">
            <a:off x="9609206" y="190500"/>
            <a:ext cx="1946139" cy="17526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758565"/>
      </p:ext>
    </p:extLst>
  </p:cSld>
</p:sld>
</file>

<file path=ppt/theme/theme1.xml><?xml version="1.0" encoding="utf-8"?>
<a:theme xmlns:a="http://schemas.openxmlformats.org/drawingml/2006/main" name="TJFI Safety">
  <a:themeElements>
    <a:clrScheme name="TJFI Safety">
      <a:dk1>
        <a:srgbClr val="1F2937"/>
      </a:dk1>
      <a:lt1>
        <a:srgbClr val="FFFFFF"/>
      </a:lt1>
      <a:dk2>
        <a:srgbClr val="0B2545"/>
      </a:dk2>
      <a:lt2>
        <a:srgbClr val="F1F5FA"/>
      </a:lt2>
      <a:accent1>
        <a:srgbClr val="F57C00"/>
      </a:accent1>
      <a:accent2>
        <a:srgbClr val="1688F8"/>
      </a:accent2>
      <a:accent3>
        <a:srgbClr val="16A34A"/>
      </a:accent3>
      <a:accent4>
        <a:srgbClr val="DC2626"/>
      </a:accent4>
      <a:accent5>
        <a:srgbClr val="B45309"/>
      </a:accent5>
      <a:accent6>
        <a:srgbClr val="5B6573"/>
      </a:accent6>
      <a:hlink>
        <a:srgbClr val="1688F8"/>
      </a:hlink>
      <a:folHlink>
        <a:srgbClr val="5B6573"/>
      </a:folHlink>
    </a:clrScheme>
    <a:fontScheme name="TJFI Safety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JFI Safety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2026-10-29T03:10:32.4200000Z</dcterms:created>
  <dcterms:modified xsi:type="dcterms:W3CDTF">2026-10-29T03:10:32.4200000Z</dcterms:modified>
</coreProperties>
</file>